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Latency (ms)</c:v>
                </c:pt>
              </c:strCache>
            </c:strRef>
          </c:tx>
          <c:spPr>
            <a:solidFill>
              <a:srgbClr val="00D4FF"/>
            </a:solidFill>
            <a:effectLst/>
          </c:spPr>
          <c:invertIfNegative val="0"/>
          <c:dLbls>
            <c:numFmt formatCode="#,##0" sourceLinked="0"/>
            <c:txPr>
              <a:bodyPr/>
              <a:lstStyle/>
              <a:p>
                <a:pPr>
                  <a:defRPr b="0" i="0" strike="noStrike" sz="1200" u="none">
                    <a:solidFill>
                      <a:srgbClr val="1B2A4A"/>
                    </a:solidFill>
                    <a:latin typeface="Arial"/>
                  </a:defRPr>
                </a:pPr>
              </a:p>
            </c:txPr>
            <c:showLegendKey val="0"/>
            <c:showVal val="1"/>
            <c:showCatName val="0"/>
            <c:showSerName val="0"/>
            <c:showPercent val="0"/>
            <c:showBubbleSize val="0"/>
            <c:showLeaderLines val="0"/>
          </c:dLbls>
          <c:cat>
            <c:multiLvlStrRef>
              <c:f>Sheet1!$A$2:$A$5</c:f>
              <c:multiLvlStrCache>
                <c:ptCount val="4"/>
                <c:lvl>
                  <c:pt idx="0">
                    <c:v>On-Device
Edge</c:v>
                  </c:pt>
                  <c:pt idx="1">
                    <c:v>Local Edge
Gateway</c:v>
                  </c:pt>
                  <c:pt idx="2">
                    <c:v>Regional
Cloud</c:v>
                  </c:pt>
                  <c:pt idx="3">
                    <c:v>Distant
Cloud Region</c:v>
                  </c:pt>
                </c:lvl>
              </c:multiLvlStrCache>
            </c:multiLvlStrRef>
          </c:cat>
          <c:val>
            <c:numRef>
              <c:f>Sheet1!$B$2:$B$5</c:f>
              <c:numCache>
                <c:formatCode>General</c:formatCode>
                <c:ptCount val="4"/>
                <c:pt idx="0">
                  <c:v>2</c:v>
                </c:pt>
                <c:pt idx="1">
                  <c:v>8</c:v>
                </c:pt>
                <c:pt idx="2">
                  <c:v>90</c:v>
                </c:pt>
                <c:pt idx="3">
                  <c:v>180</c:v>
                </c:pt>
              </c:numCache>
            </c:numRef>
          </c:val>
        </c:ser>
        <c:dLbls>
          <c:numFmt formatCode="#,##0" sourceLinked="0"/>
          <c:txPr>
            <a:bodyPr/>
            <a:lstStyle/>
            <a:p>
              <a:pPr>
                <a:defRPr b="0" i="0" strike="noStrike" sz="1200" u="none">
                  <a:solidFill>
                    <a:srgbClr val="1B2A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2A4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9F2"/>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Milliseconds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5"/>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6.png"/><Relationship Id="rId9" Type="http://schemas.openxmlformats.org/officeDocument/2006/relationships/image" Target="../media/image-4-9.png"/><Relationship Id="rId10" Type="http://schemas.openxmlformats.org/officeDocument/2006/relationships/image" Target="../media/image-4-6.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D"/>
        </a:solidFill>
      </p:bgPr>
    </p:bg>
    <p:spTree>
      <p:nvGrpSpPr>
        <p:cNvPr id="1" name=""/>
        <p:cNvGrpSpPr/>
        <p:nvPr/>
      </p:nvGrpSpPr>
      <p:grpSpPr>
        <a:xfrm>
          <a:off x="0" y="0"/>
          <a:ext cx="0" cy="0"/>
          <a:chOff x="0" y="0"/>
          <a:chExt cx="0" cy="0"/>
        </a:xfrm>
      </p:grpSpPr>
      <p:sp>
        <p:nvSpPr>
          <p:cNvPr id="2" name="Shape 0"/>
          <p:cNvSpPr/>
          <p:nvPr/>
        </p:nvSpPr>
        <p:spPr>
          <a:xfrm>
            <a:off x="8869680" y="-1371600"/>
            <a:ext cx="4572000" cy="4572000"/>
          </a:xfrm>
          <a:prstGeom prst="ellipse">
            <a:avLst/>
          </a:prstGeom>
          <a:solidFill>
            <a:srgbClr val="13294B"/>
          </a:solidFill>
          <a:ln/>
        </p:spPr>
      </p:sp>
      <p:sp>
        <p:nvSpPr>
          <p:cNvPr id="3" name="Shape 1"/>
          <p:cNvSpPr/>
          <p:nvPr/>
        </p:nvSpPr>
        <p:spPr>
          <a:xfrm>
            <a:off x="10241280" y="4206240"/>
            <a:ext cx="3291840" cy="3291840"/>
          </a:xfrm>
          <a:prstGeom prst="ellipse">
            <a:avLst/>
          </a:prstGeom>
          <a:solidFill>
            <a:srgbClr val="13294B"/>
          </a:solidFill>
          <a:ln/>
        </p:spPr>
      </p:sp>
      <p:sp>
        <p:nvSpPr>
          <p:cNvPr id="4" name="Shape 2"/>
          <p:cNvSpPr/>
          <p:nvPr/>
        </p:nvSpPr>
        <p:spPr>
          <a:xfrm>
            <a:off x="-1097280" y="4846320"/>
            <a:ext cx="2743200" cy="2743200"/>
          </a:xfrm>
          <a:prstGeom prst="ellipse">
            <a:avLst/>
          </a:prstGeom>
          <a:solidFill>
            <a:srgbClr val="13294B"/>
          </a:solidFill>
          <a:ln/>
        </p:spPr>
      </p:sp>
      <p:sp>
        <p:nvSpPr>
          <p:cNvPr id="5" name="Shape 3"/>
          <p:cNvSpPr/>
          <p:nvPr/>
        </p:nvSpPr>
        <p:spPr>
          <a:xfrm>
            <a:off x="9692640" y="1188720"/>
            <a:ext cx="128016" cy="128016"/>
          </a:xfrm>
          <a:prstGeom prst="ellipse">
            <a:avLst/>
          </a:prstGeom>
          <a:solidFill>
            <a:srgbClr val="00D4FF"/>
          </a:solidFill>
          <a:ln/>
        </p:spPr>
      </p:sp>
      <p:sp>
        <p:nvSpPr>
          <p:cNvPr id="6" name="Shape 4"/>
          <p:cNvSpPr/>
          <p:nvPr/>
        </p:nvSpPr>
        <p:spPr>
          <a:xfrm>
            <a:off x="10698480" y="2103120"/>
            <a:ext cx="128016" cy="128016"/>
          </a:xfrm>
          <a:prstGeom prst="ellipse">
            <a:avLst/>
          </a:prstGeom>
          <a:solidFill>
            <a:srgbClr val="FF8C42"/>
          </a:solidFill>
          <a:ln/>
        </p:spPr>
      </p:sp>
      <p:sp>
        <p:nvSpPr>
          <p:cNvPr id="7" name="Shape 5"/>
          <p:cNvSpPr/>
          <p:nvPr/>
        </p:nvSpPr>
        <p:spPr>
          <a:xfrm>
            <a:off x="11338560" y="822960"/>
            <a:ext cx="128016" cy="128016"/>
          </a:xfrm>
          <a:prstGeom prst="ellipse">
            <a:avLst/>
          </a:prstGeom>
          <a:solidFill>
            <a:srgbClr val="00D4FF"/>
          </a:solidFill>
          <a:ln/>
        </p:spPr>
      </p:sp>
      <p:sp>
        <p:nvSpPr>
          <p:cNvPr id="8" name="Shape 6"/>
          <p:cNvSpPr/>
          <p:nvPr/>
        </p:nvSpPr>
        <p:spPr>
          <a:xfrm>
            <a:off x="9052560" y="2377440"/>
            <a:ext cx="128016" cy="128016"/>
          </a:xfrm>
          <a:prstGeom prst="ellipse">
            <a:avLst/>
          </a:prstGeom>
          <a:solidFill>
            <a:srgbClr val="FF8C42"/>
          </a:solidFill>
          <a:ln/>
        </p:spPr>
      </p:sp>
      <p:sp>
        <p:nvSpPr>
          <p:cNvPr id="9" name="Text 7"/>
          <p:cNvSpPr/>
          <p:nvPr/>
        </p:nvSpPr>
        <p:spPr>
          <a:xfrm>
            <a:off x="640080" y="914400"/>
            <a:ext cx="3657600" cy="320040"/>
          </a:xfrm>
          <a:prstGeom prst="rect">
            <a:avLst/>
          </a:prstGeom>
          <a:noFill/>
          <a:ln/>
        </p:spPr>
        <p:txBody>
          <a:bodyPr wrap="square" rtlCol="0" anchor="ctr"/>
          <a:lstStyle/>
          <a:p>
            <a:pPr indent="0" marL="0">
              <a:buNone/>
            </a:pPr>
            <a:r>
              <a:rPr lang="en-US" sz="1200" b="1" spc="200" kern="0" dirty="0">
                <a:solidFill>
                  <a:srgbClr val="00D4FF"/>
                </a:solidFill>
                <a:latin typeface="Calibri" pitchFamily="34" charset="0"/>
                <a:ea typeface="Calibri" pitchFamily="34" charset="-122"/>
                <a:cs typeface="Calibri" pitchFamily="34" charset="-120"/>
              </a:rPr>
              <a:t>COMPUTING PARADIGMS  ·  2026 BRIEFING</a:t>
            </a:r>
            <a:endParaRPr lang="en-US" sz="1200" dirty="0"/>
          </a:p>
        </p:txBody>
      </p:sp>
      <p:sp>
        <p:nvSpPr>
          <p:cNvPr id="10" name="Text 8"/>
          <p:cNvSpPr/>
          <p:nvPr/>
        </p:nvSpPr>
        <p:spPr>
          <a:xfrm>
            <a:off x="640080" y="1371600"/>
            <a:ext cx="9875520" cy="1554480"/>
          </a:xfrm>
          <a:prstGeom prst="rect">
            <a:avLst/>
          </a:prstGeom>
          <a:noFill/>
          <a:ln/>
        </p:spPr>
        <p:txBody>
          <a:bodyPr wrap="square"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Edge Computing vs Cloud Computing</a:t>
            </a:r>
            <a:endParaRPr lang="en-US" sz="4000" dirty="0"/>
          </a:p>
        </p:txBody>
      </p:sp>
      <p:sp>
        <p:nvSpPr>
          <p:cNvPr id="11" name="Text 9"/>
          <p:cNvSpPr/>
          <p:nvPr/>
        </p:nvSpPr>
        <p:spPr>
          <a:xfrm>
            <a:off x="640080" y="2788920"/>
            <a:ext cx="9144000" cy="548640"/>
          </a:xfrm>
          <a:prstGeom prst="rect">
            <a:avLst/>
          </a:prstGeom>
          <a:noFill/>
          <a:ln/>
        </p:spPr>
        <p:txBody>
          <a:bodyPr wrap="square" rtlCol="0" anchor="ctr"/>
          <a:lstStyle/>
          <a:p>
            <a:pPr indent="0" marL="0">
              <a:buNone/>
            </a:pPr>
            <a:r>
              <a:rPr lang="en-US" sz="2000" i="1" dirty="0">
                <a:solidFill>
                  <a:srgbClr val="C9D6EC"/>
                </a:solidFill>
                <a:latin typeface="Calibri" pitchFamily="34" charset="0"/>
                <a:ea typeface="Calibri" pitchFamily="34" charset="-122"/>
                <a:cs typeface="Calibri" pitchFamily="34" charset="-120"/>
              </a:rPr>
              <a:t>Choosing the Right Computing Paradigm</a:t>
            </a:r>
            <a:endParaRPr lang="en-US" sz="2000" dirty="0"/>
          </a:p>
        </p:txBody>
      </p:sp>
      <p:sp>
        <p:nvSpPr>
          <p:cNvPr id="12" name="Text 10"/>
          <p:cNvSpPr/>
          <p:nvPr/>
        </p:nvSpPr>
        <p:spPr>
          <a:xfrm>
            <a:off x="640080" y="3429000"/>
            <a:ext cx="8686800" cy="457200"/>
          </a:xfrm>
          <a:prstGeom prst="rect">
            <a:avLst/>
          </a:prstGeom>
          <a:noFill/>
          <a:ln/>
        </p:spPr>
        <p:txBody>
          <a:bodyPr wrap="square" rtlCol="0" anchor="ctr"/>
          <a:lstStyle/>
          <a:p>
            <a:pPr indent="0" marL="0">
              <a:buNone/>
            </a:pPr>
            <a:r>
              <a:rPr lang="en-US" sz="1400" dirty="0">
                <a:solidFill>
                  <a:srgbClr val="8FA3C4"/>
                </a:solidFill>
                <a:latin typeface="Calibri" pitchFamily="34" charset="0"/>
                <a:ea typeface="Calibri" pitchFamily="34" charset="-122"/>
                <a:cs typeface="Calibri" pitchFamily="34" charset="-120"/>
              </a:rPr>
              <a:t>Comparing architectures, applications, and industry adoption scenarios</a:t>
            </a:r>
            <a:endParaRPr lang="en-US" sz="1400" dirty="0"/>
          </a:p>
        </p:txBody>
      </p:sp>
      <p:sp>
        <p:nvSpPr>
          <p:cNvPr id="13" name="Text 11"/>
          <p:cNvSpPr/>
          <p:nvPr/>
        </p:nvSpPr>
        <p:spPr>
          <a:xfrm>
            <a:off x="640080" y="5120640"/>
            <a:ext cx="3108960" cy="502920"/>
          </a:xfrm>
          <a:prstGeom prst="rect">
            <a:avLst/>
          </a:prstGeom>
          <a:noFill/>
          <a:ln/>
        </p:spPr>
        <p:txBody>
          <a:bodyPr wrap="square" rtlCol="0" anchor="ctr"/>
          <a:lstStyle/>
          <a:p>
            <a:pPr indent="0" marL="0">
              <a:buNone/>
            </a:pPr>
            <a:r>
              <a:rPr lang="en-US" sz="2600" b="1" dirty="0">
                <a:solidFill>
                  <a:srgbClr val="FF8C42"/>
                </a:solidFill>
                <a:latin typeface="Cambria" pitchFamily="34" charset="0"/>
                <a:ea typeface="Cambria" pitchFamily="34" charset="-122"/>
                <a:cs typeface="Cambria" pitchFamily="34" charset="-120"/>
              </a:rPr>
              <a:t>&lt;10ms</a:t>
            </a:r>
            <a:endParaRPr lang="en-US" sz="2600" dirty="0"/>
          </a:p>
        </p:txBody>
      </p:sp>
      <p:sp>
        <p:nvSpPr>
          <p:cNvPr id="14" name="Text 12"/>
          <p:cNvSpPr/>
          <p:nvPr/>
        </p:nvSpPr>
        <p:spPr>
          <a:xfrm>
            <a:off x="640080" y="5623560"/>
            <a:ext cx="3108960" cy="640080"/>
          </a:xfrm>
          <a:prstGeom prst="rect">
            <a:avLst/>
          </a:prstGeom>
          <a:noFill/>
          <a:ln/>
        </p:spPr>
        <p:txBody>
          <a:bodyPr wrap="square" rtlCol="0" anchor="ctr"/>
          <a:lstStyle/>
          <a:p>
            <a:pPr indent="0" marL="0">
              <a:buNone/>
            </a:pPr>
            <a:r>
              <a:rPr lang="en-US" sz="1050" dirty="0">
                <a:solidFill>
                  <a:srgbClr val="C9D6EC"/>
                </a:solidFill>
                <a:latin typeface="Calibri" pitchFamily="34" charset="0"/>
                <a:ea typeface="Calibri" pitchFamily="34" charset="-122"/>
                <a:cs typeface="Calibri" pitchFamily="34" charset="-120"/>
              </a:rPr>
              <a:t>Edge target latency</a:t>
            </a:r>
            <a:endParaRPr lang="en-US" sz="1050" dirty="0"/>
          </a:p>
        </p:txBody>
      </p:sp>
      <p:sp>
        <p:nvSpPr>
          <p:cNvPr id="15" name="Text 13"/>
          <p:cNvSpPr/>
          <p:nvPr/>
        </p:nvSpPr>
        <p:spPr>
          <a:xfrm>
            <a:off x="4023360" y="5120640"/>
            <a:ext cx="3108960" cy="502920"/>
          </a:xfrm>
          <a:prstGeom prst="rect">
            <a:avLst/>
          </a:prstGeom>
          <a:noFill/>
          <a:ln/>
        </p:spPr>
        <p:txBody>
          <a:bodyPr wrap="square" rtlCol="0" anchor="ctr"/>
          <a:lstStyle/>
          <a:p>
            <a:pPr indent="0" marL="0">
              <a:buNone/>
            </a:pPr>
            <a:r>
              <a:rPr lang="en-US" sz="2600" b="1" dirty="0">
                <a:solidFill>
                  <a:srgbClr val="FF8C42"/>
                </a:solidFill>
                <a:latin typeface="Cambria" pitchFamily="34" charset="0"/>
                <a:ea typeface="Cambria" pitchFamily="34" charset="-122"/>
                <a:cs typeface="Cambria" pitchFamily="34" charset="-120"/>
              </a:rPr>
              <a:t>$385B+</a:t>
            </a:r>
            <a:endParaRPr lang="en-US" sz="2600" dirty="0"/>
          </a:p>
        </p:txBody>
      </p:sp>
      <p:sp>
        <p:nvSpPr>
          <p:cNvPr id="16" name="Text 14"/>
          <p:cNvSpPr/>
          <p:nvPr/>
        </p:nvSpPr>
        <p:spPr>
          <a:xfrm>
            <a:off x="4023360" y="5623560"/>
            <a:ext cx="3108960" cy="640080"/>
          </a:xfrm>
          <a:prstGeom prst="rect">
            <a:avLst/>
          </a:prstGeom>
          <a:noFill/>
          <a:ln/>
        </p:spPr>
        <p:txBody>
          <a:bodyPr wrap="square" rtlCol="0" anchor="ctr"/>
          <a:lstStyle/>
          <a:p>
            <a:pPr indent="0" marL="0">
              <a:buNone/>
            </a:pPr>
            <a:r>
              <a:rPr lang="en-US" sz="1050" dirty="0">
                <a:solidFill>
                  <a:srgbClr val="C9D6EC"/>
                </a:solidFill>
                <a:latin typeface="Calibri" pitchFamily="34" charset="0"/>
                <a:ea typeface="Calibri" pitchFamily="34" charset="-122"/>
                <a:cs typeface="Calibri" pitchFamily="34" charset="-120"/>
              </a:rPr>
              <a:t>Global cloud market (2026 est.)</a:t>
            </a:r>
            <a:endParaRPr lang="en-US" sz="1050" dirty="0"/>
          </a:p>
        </p:txBody>
      </p:sp>
      <p:sp>
        <p:nvSpPr>
          <p:cNvPr id="17" name="Text 15"/>
          <p:cNvSpPr/>
          <p:nvPr/>
        </p:nvSpPr>
        <p:spPr>
          <a:xfrm>
            <a:off x="7406640" y="5120640"/>
            <a:ext cx="3108960" cy="502920"/>
          </a:xfrm>
          <a:prstGeom prst="rect">
            <a:avLst/>
          </a:prstGeom>
          <a:noFill/>
          <a:ln/>
        </p:spPr>
        <p:txBody>
          <a:bodyPr wrap="square" rtlCol="0" anchor="ctr"/>
          <a:lstStyle/>
          <a:p>
            <a:pPr indent="0" marL="0">
              <a:buNone/>
            </a:pPr>
            <a:r>
              <a:rPr lang="en-US" sz="2600" b="1" dirty="0">
                <a:solidFill>
                  <a:srgbClr val="FF8C42"/>
                </a:solidFill>
                <a:latin typeface="Cambria" pitchFamily="34" charset="0"/>
                <a:ea typeface="Cambria" pitchFamily="34" charset="-122"/>
                <a:cs typeface="Cambria" pitchFamily="34" charset="-120"/>
              </a:rPr>
              <a:t>75%</a:t>
            </a:r>
            <a:endParaRPr lang="en-US" sz="2600" dirty="0"/>
          </a:p>
        </p:txBody>
      </p:sp>
      <p:sp>
        <p:nvSpPr>
          <p:cNvPr id="18" name="Text 16"/>
          <p:cNvSpPr/>
          <p:nvPr/>
        </p:nvSpPr>
        <p:spPr>
          <a:xfrm>
            <a:off x="7406640" y="5623560"/>
            <a:ext cx="3108960" cy="640080"/>
          </a:xfrm>
          <a:prstGeom prst="rect">
            <a:avLst/>
          </a:prstGeom>
          <a:noFill/>
          <a:ln/>
        </p:spPr>
        <p:txBody>
          <a:bodyPr wrap="square" rtlCol="0" anchor="ctr"/>
          <a:lstStyle/>
          <a:p>
            <a:pPr indent="0" marL="0">
              <a:buNone/>
            </a:pPr>
            <a:r>
              <a:rPr lang="en-US" sz="1050" dirty="0">
                <a:solidFill>
                  <a:srgbClr val="C9D6EC"/>
                </a:solidFill>
                <a:latin typeface="Calibri" pitchFamily="34" charset="0"/>
                <a:ea typeface="Calibri" pitchFamily="34" charset="-122"/>
                <a:cs typeface="Calibri" pitchFamily="34" charset="-120"/>
              </a:rPr>
              <a:t>Enterprise data processed outside data centers by 2027 (Gartner)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rtlCol="0" anchor="ctr"/>
          <a:lstStyle/>
          <a:p>
            <a:pPr indent="0" marL="0">
              <a:buNone/>
            </a:pPr>
            <a:r>
              <a:rPr lang="en-US" sz="1200" b="1" spc="200" kern="0" dirty="0">
                <a:solidFill>
                  <a:srgbClr val="FF8C42"/>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749808"/>
            <a:ext cx="7315200" cy="640080"/>
          </a:xfrm>
          <a:prstGeom prst="rect">
            <a:avLst/>
          </a:prstGeom>
          <a:noFill/>
          <a:ln/>
        </p:spPr>
        <p:txBody>
          <a:bodyPr wrap="square"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What We'll Cover</a:t>
            </a:r>
            <a:endParaRPr lang="en-US" sz="3200" dirty="0"/>
          </a:p>
        </p:txBody>
      </p:sp>
      <p:sp>
        <p:nvSpPr>
          <p:cNvPr id="4" name="Shape 2"/>
          <p:cNvSpPr/>
          <p:nvPr/>
        </p:nvSpPr>
        <p:spPr>
          <a:xfrm>
            <a:off x="640080" y="1691640"/>
            <a:ext cx="566928" cy="566928"/>
          </a:xfrm>
          <a:prstGeom prst="ellipse">
            <a:avLst/>
          </a:prstGeom>
          <a:solidFill>
            <a:srgbClr val="0B1E3D"/>
          </a:solidFill>
          <a:ln/>
          <a:effectLst>
            <a:outerShdw sx="100000" sy="100000" kx="0" ky="0" algn="bl" rotWithShape="0" blurRad="101600" dist="38100" dir="5400000">
              <a:srgbClr val="0B1E3D">
                <a:alpha val="25000"/>
              </a:srgbClr>
            </a:outerShdw>
          </a:effectLst>
        </p:spPr>
      </p:sp>
      <p:pic>
        <p:nvPicPr>
          <p:cNvPr id="5" name="Image 0" descr="/home/claude/edge_cloud/icon_network.png">    </p:cNvPr>
          <p:cNvPicPr>
            <a:picLocks noChangeAspect="1"/>
          </p:cNvPicPr>
          <p:nvPr/>
        </p:nvPicPr>
        <p:blipFill>
          <a:blip r:embed="rId1"/>
          <a:stretch>
            <a:fillRect/>
          </a:stretch>
        </p:blipFill>
        <p:spPr>
          <a:xfrm>
            <a:off x="713781" y="1765341"/>
            <a:ext cx="419527" cy="419527"/>
          </a:xfrm>
          <a:prstGeom prst="rect">
            <a:avLst/>
          </a:prstGeom>
        </p:spPr>
      </p:pic>
      <p:sp>
        <p:nvSpPr>
          <p:cNvPr id="6" name="Text 3"/>
          <p:cNvSpPr/>
          <p:nvPr/>
        </p:nvSpPr>
        <p:spPr>
          <a:xfrm>
            <a:off x="1417320" y="1664208"/>
            <a:ext cx="512064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Architectures</a:t>
            </a:r>
            <a:endParaRPr lang="en-US" sz="1600" dirty="0"/>
          </a:p>
        </p:txBody>
      </p:sp>
      <p:sp>
        <p:nvSpPr>
          <p:cNvPr id="7" name="Text 4"/>
          <p:cNvSpPr/>
          <p:nvPr/>
        </p:nvSpPr>
        <p:spPr>
          <a:xfrm>
            <a:off x="1417320" y="1993392"/>
            <a:ext cx="9601200" cy="457200"/>
          </a:xfrm>
          <a:prstGeom prst="rect">
            <a:avLst/>
          </a:prstGeom>
          <a:noFill/>
          <a:ln/>
        </p:spPr>
        <p:txBody>
          <a:bodyPr wrap="square" rtlCol="0" anchor="ctr"/>
          <a:lstStyle/>
          <a:p>
            <a:pPr indent="0" marL="0">
              <a:buNone/>
            </a:pPr>
            <a:r>
              <a:rPr lang="en-US" sz="1200" dirty="0">
                <a:solidFill>
                  <a:srgbClr val="5B6B85"/>
                </a:solidFill>
                <a:latin typeface="Calibri" pitchFamily="34" charset="0"/>
                <a:ea typeface="Calibri" pitchFamily="34" charset="-122"/>
                <a:cs typeface="Calibri" pitchFamily="34" charset="-120"/>
              </a:rPr>
              <a:t>How cloud's centralized model differs from edge's distributed model</a:t>
            </a:r>
            <a:endParaRPr lang="en-US" sz="1200" dirty="0"/>
          </a:p>
        </p:txBody>
      </p:sp>
      <p:sp>
        <p:nvSpPr>
          <p:cNvPr id="8" name="Shape 5"/>
          <p:cNvSpPr/>
          <p:nvPr/>
        </p:nvSpPr>
        <p:spPr>
          <a:xfrm>
            <a:off x="640080" y="2587752"/>
            <a:ext cx="566928" cy="566928"/>
          </a:xfrm>
          <a:prstGeom prst="ellipse">
            <a:avLst/>
          </a:prstGeom>
          <a:solidFill>
            <a:srgbClr val="FF8C42"/>
          </a:solidFill>
          <a:ln/>
          <a:effectLst>
            <a:outerShdw sx="100000" sy="100000" kx="0" ky="0" algn="bl" rotWithShape="0" blurRad="101600" dist="38100" dir="5400000">
              <a:srgbClr val="0B1E3D">
                <a:alpha val="25000"/>
              </a:srgbClr>
            </a:outerShdw>
          </a:effectLst>
        </p:spPr>
      </p:sp>
      <p:pic>
        <p:nvPicPr>
          <p:cNvPr id="9" name="Image 1" descr="/home/claude/edge_cloud/icon_balance.png">    </p:cNvPr>
          <p:cNvPicPr>
            <a:picLocks noChangeAspect="1"/>
          </p:cNvPicPr>
          <p:nvPr/>
        </p:nvPicPr>
        <p:blipFill>
          <a:blip r:embed="rId2"/>
          <a:stretch>
            <a:fillRect/>
          </a:stretch>
        </p:blipFill>
        <p:spPr>
          <a:xfrm>
            <a:off x="713781" y="2661453"/>
            <a:ext cx="419527" cy="419527"/>
          </a:xfrm>
          <a:prstGeom prst="rect">
            <a:avLst/>
          </a:prstGeom>
        </p:spPr>
      </p:pic>
      <p:sp>
        <p:nvSpPr>
          <p:cNvPr id="10" name="Text 6"/>
          <p:cNvSpPr/>
          <p:nvPr/>
        </p:nvSpPr>
        <p:spPr>
          <a:xfrm>
            <a:off x="1417320" y="2560320"/>
            <a:ext cx="512064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Head-to-Head Comparison</a:t>
            </a:r>
            <a:endParaRPr lang="en-US" sz="1600" dirty="0"/>
          </a:p>
        </p:txBody>
      </p:sp>
      <p:sp>
        <p:nvSpPr>
          <p:cNvPr id="11" name="Text 7"/>
          <p:cNvSpPr/>
          <p:nvPr/>
        </p:nvSpPr>
        <p:spPr>
          <a:xfrm>
            <a:off x="1417320" y="2889504"/>
            <a:ext cx="9601200" cy="457200"/>
          </a:xfrm>
          <a:prstGeom prst="rect">
            <a:avLst/>
          </a:prstGeom>
          <a:noFill/>
          <a:ln/>
        </p:spPr>
        <p:txBody>
          <a:bodyPr wrap="square" rtlCol="0" anchor="ctr"/>
          <a:lstStyle/>
          <a:p>
            <a:pPr indent="0" marL="0">
              <a:buNone/>
            </a:pPr>
            <a:r>
              <a:rPr lang="en-US" sz="1200" dirty="0">
                <a:solidFill>
                  <a:srgbClr val="5B6B85"/>
                </a:solidFill>
                <a:latin typeface="Calibri" pitchFamily="34" charset="0"/>
                <a:ea typeface="Calibri" pitchFamily="34" charset="-122"/>
                <a:cs typeface="Calibri" pitchFamily="34" charset="-120"/>
              </a:rPr>
              <a:t>Latency, bandwidth, cost, scalability, and security tradeoffs</a:t>
            </a:r>
            <a:endParaRPr lang="en-US" sz="1200" dirty="0"/>
          </a:p>
        </p:txBody>
      </p:sp>
      <p:sp>
        <p:nvSpPr>
          <p:cNvPr id="12" name="Shape 8"/>
          <p:cNvSpPr/>
          <p:nvPr/>
        </p:nvSpPr>
        <p:spPr>
          <a:xfrm>
            <a:off x="640080" y="3483864"/>
            <a:ext cx="566928" cy="566928"/>
          </a:xfrm>
          <a:prstGeom prst="ellipse">
            <a:avLst/>
          </a:prstGeom>
          <a:solidFill>
            <a:srgbClr val="0B1E3D"/>
          </a:solidFill>
          <a:ln/>
          <a:effectLst>
            <a:outerShdw sx="100000" sy="100000" kx="0" ky="0" algn="bl" rotWithShape="0" blurRad="101600" dist="38100" dir="5400000">
              <a:srgbClr val="0B1E3D">
                <a:alpha val="25000"/>
              </a:srgbClr>
            </a:outerShdw>
          </a:effectLst>
        </p:spPr>
      </p:sp>
      <p:pic>
        <p:nvPicPr>
          <p:cNvPr id="13" name="Image 2" descr="/home/claude/edge_cloud/icon_cogs.png">    </p:cNvPr>
          <p:cNvPicPr>
            <a:picLocks noChangeAspect="1"/>
          </p:cNvPicPr>
          <p:nvPr/>
        </p:nvPicPr>
        <p:blipFill>
          <a:blip r:embed="rId3"/>
          <a:stretch>
            <a:fillRect/>
          </a:stretch>
        </p:blipFill>
        <p:spPr>
          <a:xfrm>
            <a:off x="713781" y="3557565"/>
            <a:ext cx="419527" cy="419527"/>
          </a:xfrm>
          <a:prstGeom prst="rect">
            <a:avLst/>
          </a:prstGeom>
        </p:spPr>
      </p:pic>
      <p:sp>
        <p:nvSpPr>
          <p:cNvPr id="14" name="Text 9"/>
          <p:cNvSpPr/>
          <p:nvPr/>
        </p:nvSpPr>
        <p:spPr>
          <a:xfrm>
            <a:off x="1417320" y="3456432"/>
            <a:ext cx="512064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Applications</a:t>
            </a:r>
            <a:endParaRPr lang="en-US" sz="1600" dirty="0"/>
          </a:p>
        </p:txBody>
      </p:sp>
      <p:sp>
        <p:nvSpPr>
          <p:cNvPr id="15" name="Text 10"/>
          <p:cNvSpPr/>
          <p:nvPr/>
        </p:nvSpPr>
        <p:spPr>
          <a:xfrm>
            <a:off x="1417320" y="3785616"/>
            <a:ext cx="9601200" cy="457200"/>
          </a:xfrm>
          <a:prstGeom prst="rect">
            <a:avLst/>
          </a:prstGeom>
          <a:noFill/>
          <a:ln/>
        </p:spPr>
        <p:txBody>
          <a:bodyPr wrap="square" rtlCol="0" anchor="ctr"/>
          <a:lstStyle/>
          <a:p>
            <a:pPr indent="0" marL="0">
              <a:buNone/>
            </a:pPr>
            <a:r>
              <a:rPr lang="en-US" sz="1200" dirty="0">
                <a:solidFill>
                  <a:srgbClr val="5B6B85"/>
                </a:solidFill>
                <a:latin typeface="Calibri" pitchFamily="34" charset="0"/>
                <a:ea typeface="Calibri" pitchFamily="34" charset="-122"/>
                <a:cs typeface="Calibri" pitchFamily="34" charset="-120"/>
              </a:rPr>
              <a:t>Where each paradigm's strengths are put to work</a:t>
            </a:r>
            <a:endParaRPr lang="en-US" sz="1200" dirty="0"/>
          </a:p>
        </p:txBody>
      </p:sp>
      <p:sp>
        <p:nvSpPr>
          <p:cNvPr id="16" name="Shape 11"/>
          <p:cNvSpPr/>
          <p:nvPr/>
        </p:nvSpPr>
        <p:spPr>
          <a:xfrm>
            <a:off x="640080" y="4379976"/>
            <a:ext cx="566928" cy="566928"/>
          </a:xfrm>
          <a:prstGeom prst="ellipse">
            <a:avLst/>
          </a:prstGeom>
          <a:solidFill>
            <a:srgbClr val="FF8C42"/>
          </a:solidFill>
          <a:ln/>
          <a:effectLst>
            <a:outerShdw sx="100000" sy="100000" kx="0" ky="0" algn="bl" rotWithShape="0" blurRad="101600" dist="38100" dir="5400000">
              <a:srgbClr val="0B1E3D">
                <a:alpha val="25000"/>
              </a:srgbClr>
            </a:outerShdw>
          </a:effectLst>
        </p:spPr>
      </p:sp>
      <p:pic>
        <p:nvPicPr>
          <p:cNvPr id="17" name="Image 3" descr="/home/claude/edge_cloud/icon_city.png">    </p:cNvPr>
          <p:cNvPicPr>
            <a:picLocks noChangeAspect="1"/>
          </p:cNvPicPr>
          <p:nvPr/>
        </p:nvPicPr>
        <p:blipFill>
          <a:blip r:embed="rId4"/>
          <a:stretch>
            <a:fillRect/>
          </a:stretch>
        </p:blipFill>
        <p:spPr>
          <a:xfrm>
            <a:off x="713781" y="4453677"/>
            <a:ext cx="419527" cy="419527"/>
          </a:xfrm>
          <a:prstGeom prst="rect">
            <a:avLst/>
          </a:prstGeom>
        </p:spPr>
      </p:pic>
      <p:sp>
        <p:nvSpPr>
          <p:cNvPr id="18" name="Text 12"/>
          <p:cNvSpPr/>
          <p:nvPr/>
        </p:nvSpPr>
        <p:spPr>
          <a:xfrm>
            <a:off x="1417320" y="4352544"/>
            <a:ext cx="512064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Industry Adoption</a:t>
            </a:r>
            <a:endParaRPr lang="en-US" sz="1600" dirty="0"/>
          </a:p>
        </p:txBody>
      </p:sp>
      <p:sp>
        <p:nvSpPr>
          <p:cNvPr id="19" name="Text 13"/>
          <p:cNvSpPr/>
          <p:nvPr/>
        </p:nvSpPr>
        <p:spPr>
          <a:xfrm>
            <a:off x="1417320" y="4681728"/>
            <a:ext cx="9601200" cy="457200"/>
          </a:xfrm>
          <a:prstGeom prst="rect">
            <a:avLst/>
          </a:prstGeom>
          <a:noFill/>
          <a:ln/>
        </p:spPr>
        <p:txBody>
          <a:bodyPr wrap="square" rtlCol="0" anchor="ctr"/>
          <a:lstStyle/>
          <a:p>
            <a:pPr indent="0" marL="0">
              <a:buNone/>
            </a:pPr>
            <a:r>
              <a:rPr lang="en-US" sz="1200" dirty="0">
                <a:solidFill>
                  <a:srgbClr val="5B6B85"/>
                </a:solidFill>
                <a:latin typeface="Calibri" pitchFamily="34" charset="0"/>
                <a:ea typeface="Calibri" pitchFamily="34" charset="-122"/>
                <a:cs typeface="Calibri" pitchFamily="34" charset="-120"/>
              </a:rPr>
              <a:t>Manufacturing, healthcare, mobility, smart cities, and retail scenarios</a:t>
            </a:r>
            <a:endParaRPr lang="en-US" sz="1200" dirty="0"/>
          </a:p>
        </p:txBody>
      </p:sp>
      <p:sp>
        <p:nvSpPr>
          <p:cNvPr id="20" name="Shape 14"/>
          <p:cNvSpPr/>
          <p:nvPr/>
        </p:nvSpPr>
        <p:spPr>
          <a:xfrm>
            <a:off x="640080" y="5276088"/>
            <a:ext cx="566928" cy="566928"/>
          </a:xfrm>
          <a:prstGeom prst="ellipse">
            <a:avLst/>
          </a:prstGeom>
          <a:solidFill>
            <a:srgbClr val="0B1E3D"/>
          </a:solidFill>
          <a:ln/>
          <a:effectLst>
            <a:outerShdw sx="100000" sy="100000" kx="0" ky="0" algn="bl" rotWithShape="0" blurRad="101600" dist="38100" dir="5400000">
              <a:srgbClr val="0B1E3D">
                <a:alpha val="25000"/>
              </a:srgbClr>
            </a:outerShdw>
          </a:effectLst>
        </p:spPr>
      </p:sp>
      <p:pic>
        <p:nvPicPr>
          <p:cNvPr id="21" name="Image 4" descr="/home/claude/edge_cloud/icon_question.png">    </p:cNvPr>
          <p:cNvPicPr>
            <a:picLocks noChangeAspect="1"/>
          </p:cNvPicPr>
          <p:nvPr/>
        </p:nvPicPr>
        <p:blipFill>
          <a:blip r:embed="rId5"/>
          <a:stretch>
            <a:fillRect/>
          </a:stretch>
        </p:blipFill>
        <p:spPr>
          <a:xfrm>
            <a:off x="713781" y="5349789"/>
            <a:ext cx="419527" cy="419527"/>
          </a:xfrm>
          <a:prstGeom prst="rect">
            <a:avLst/>
          </a:prstGeom>
        </p:spPr>
      </p:pic>
      <p:sp>
        <p:nvSpPr>
          <p:cNvPr id="22" name="Text 15"/>
          <p:cNvSpPr/>
          <p:nvPr/>
        </p:nvSpPr>
        <p:spPr>
          <a:xfrm>
            <a:off x="1417320" y="5248656"/>
            <a:ext cx="512064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Decision Framework</a:t>
            </a:r>
            <a:endParaRPr lang="en-US" sz="1600" dirty="0"/>
          </a:p>
        </p:txBody>
      </p:sp>
      <p:sp>
        <p:nvSpPr>
          <p:cNvPr id="23" name="Text 16"/>
          <p:cNvSpPr/>
          <p:nvPr/>
        </p:nvSpPr>
        <p:spPr>
          <a:xfrm>
            <a:off x="1417320" y="5577840"/>
            <a:ext cx="9601200" cy="457200"/>
          </a:xfrm>
          <a:prstGeom prst="rect">
            <a:avLst/>
          </a:prstGeom>
          <a:noFill/>
          <a:ln/>
        </p:spPr>
        <p:txBody>
          <a:bodyPr wrap="square" rtlCol="0" anchor="ctr"/>
          <a:lstStyle/>
          <a:p>
            <a:pPr indent="0" marL="0">
              <a:buNone/>
            </a:pPr>
            <a:r>
              <a:rPr lang="en-US" sz="1200" dirty="0">
                <a:solidFill>
                  <a:srgbClr val="5B6B85"/>
                </a:solidFill>
                <a:latin typeface="Calibri" pitchFamily="34" charset="0"/>
                <a:ea typeface="Calibri" pitchFamily="34" charset="-122"/>
                <a:cs typeface="Calibri" pitchFamily="34" charset="-120"/>
              </a:rPr>
              <a:t>A practical guide to choosing — or combining — both</a:t>
            </a:r>
            <a:endParaRPr lang="en-US" sz="1200" dirty="0"/>
          </a:p>
        </p:txBody>
      </p:sp>
      <p:sp>
        <p:nvSpPr>
          <p:cNvPr id="24" name="Text 17"/>
          <p:cNvSpPr/>
          <p:nvPr/>
        </p:nvSpPr>
        <p:spPr>
          <a:xfrm>
            <a:off x="457200" y="6537960"/>
            <a:ext cx="5486400" cy="274320"/>
          </a:xfrm>
          <a:prstGeom prst="rect">
            <a:avLst/>
          </a:prstGeom>
          <a:noFill/>
          <a:ln/>
        </p:spPr>
        <p:txBody>
          <a:bodyPr wrap="square" rtlCol="0" anchor="ctr"/>
          <a:lstStyle/>
          <a:p>
            <a:pPr indent="0" marL="0">
              <a:buNone/>
            </a:pPr>
            <a:r>
              <a:rPr lang="en-US" sz="900" i="1" dirty="0">
                <a:solidFill>
                  <a:srgbClr val="5B6B85"/>
                </a:solidFill>
                <a:latin typeface="Calibri" pitchFamily="34" charset="0"/>
                <a:ea typeface="Calibri" pitchFamily="34" charset="-122"/>
                <a:cs typeface="Calibri" pitchFamily="34" charset="-120"/>
              </a:rPr>
              <a:t>Edge vs Cloud Computing</a:t>
            </a:r>
            <a:endParaRPr lang="en-US" sz="900" dirty="0"/>
          </a:p>
        </p:txBody>
      </p:sp>
      <p:sp>
        <p:nvSpPr>
          <p:cNvPr id="25" name="Text 18"/>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150" kern="0" dirty="0">
                <a:solidFill>
                  <a:srgbClr val="FF8C42"/>
                </a:solidFill>
                <a:latin typeface="Calibri" pitchFamily="34" charset="0"/>
                <a:ea typeface="Calibri" pitchFamily="34" charset="-122"/>
                <a:cs typeface="Calibri" pitchFamily="34" charset="-120"/>
              </a:rPr>
              <a:t>ARCHITECTURE · 01  ·  CLOUD COMPUTING</a:t>
            </a:r>
            <a:endParaRPr lang="en-US" sz="1200" dirty="0"/>
          </a:p>
        </p:txBody>
      </p:sp>
      <p:sp>
        <p:nvSpPr>
          <p:cNvPr id="3" name="Text 1"/>
          <p:cNvSpPr/>
          <p:nvPr/>
        </p:nvSpPr>
        <p:spPr>
          <a:xfrm>
            <a:off x="548640" y="749808"/>
            <a:ext cx="6858000" cy="64008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Centralized Power, On Demand</a:t>
            </a:r>
            <a:endParaRPr lang="en-US" sz="2800" dirty="0"/>
          </a:p>
        </p:txBody>
      </p:sp>
      <p:sp>
        <p:nvSpPr>
          <p:cNvPr id="4" name="Text 2"/>
          <p:cNvSpPr/>
          <p:nvPr/>
        </p:nvSpPr>
        <p:spPr>
          <a:xfrm>
            <a:off x="548640" y="1508760"/>
            <a:ext cx="6309360" cy="1188720"/>
          </a:xfrm>
          <a:prstGeom prst="rect">
            <a:avLst/>
          </a:prstGeom>
          <a:noFill/>
          <a:ln/>
        </p:spPr>
        <p:txBody>
          <a:bodyPr wrap="square" rtlCol="0" anchor="ctr"/>
          <a:lstStyle/>
          <a:p>
            <a:pPr indent="0" marL="0">
              <a:lnSpc>
                <a:spcPct val="125000"/>
              </a:lnSpc>
              <a:buNone/>
            </a:pPr>
            <a:r>
              <a:rPr lang="en-US" sz="1300" dirty="0">
                <a:solidFill>
                  <a:srgbClr val="1B2A4A"/>
                </a:solidFill>
                <a:latin typeface="Calibri" pitchFamily="34" charset="0"/>
                <a:ea typeface="Calibri" pitchFamily="34" charset="-122"/>
                <a:cs typeface="Calibri" pitchFamily="34" charset="-120"/>
              </a:rPr>
              <a:t>Cloud computing delivers compute, storage, and software services from large, centralized data centers over the internet. Resources are pooled and allocated elastically, so organizations pay only for what they use instead of owning physical infrastructure.</a:t>
            </a:r>
            <a:endParaRPr lang="en-US" sz="1300" dirty="0"/>
          </a:p>
        </p:txBody>
      </p:sp>
      <p:sp>
        <p:nvSpPr>
          <p:cNvPr id="5" name="Shape 3"/>
          <p:cNvSpPr/>
          <p:nvPr/>
        </p:nvSpPr>
        <p:spPr>
          <a:xfrm>
            <a:off x="548640" y="2788920"/>
            <a:ext cx="365760" cy="365760"/>
          </a:xfrm>
          <a:prstGeom prst="ellipse">
            <a:avLst/>
          </a:prstGeom>
          <a:solidFill>
            <a:srgbClr val="0B1E3D"/>
          </a:solidFill>
          <a:ln/>
        </p:spPr>
      </p:sp>
      <p:pic>
        <p:nvPicPr>
          <p:cNvPr id="6" name="Image 0" descr="/home/claude/edge_cloud/icon_layers.png">    </p:cNvPr>
          <p:cNvPicPr>
            <a:picLocks noChangeAspect="1"/>
          </p:cNvPicPr>
          <p:nvPr/>
        </p:nvPicPr>
        <p:blipFill>
          <a:blip r:embed="rId1"/>
          <a:stretch>
            <a:fillRect/>
          </a:stretch>
        </p:blipFill>
        <p:spPr>
          <a:xfrm>
            <a:off x="640080" y="2880360"/>
            <a:ext cx="182880" cy="182880"/>
          </a:xfrm>
          <a:prstGeom prst="rect">
            <a:avLst/>
          </a:prstGeom>
        </p:spPr>
      </p:pic>
      <p:sp>
        <p:nvSpPr>
          <p:cNvPr id="7" name="Text 4"/>
          <p:cNvSpPr/>
          <p:nvPr/>
        </p:nvSpPr>
        <p:spPr>
          <a:xfrm>
            <a:off x="1051560" y="2734056"/>
            <a:ext cx="5852160" cy="457200"/>
          </a:xfrm>
          <a:prstGeom prst="rect">
            <a:avLst/>
          </a:prstGeom>
          <a:noFill/>
          <a:ln/>
        </p:spPr>
        <p:txBody>
          <a:bodyPr wrap="square" rtlCol="0" anchor="ctr"/>
          <a:lstStyle/>
          <a:p>
            <a:pPr indent="0" marL="0">
              <a:buNone/>
            </a:pPr>
            <a:r>
              <a:rPr lang="en-US" sz="1150" dirty="0">
                <a:solidFill>
                  <a:srgbClr val="1B2A4A"/>
                </a:solidFill>
                <a:latin typeface="Calibri" pitchFamily="34" charset="0"/>
                <a:ea typeface="Calibri" pitchFamily="34" charset="-122"/>
                <a:cs typeface="Calibri" pitchFamily="34" charset="-120"/>
              </a:rPr>
              <a:t>Elastic scalability across virtually unlimited pooled resources</a:t>
            </a:r>
            <a:endParaRPr lang="en-US" sz="1150" dirty="0"/>
          </a:p>
        </p:txBody>
      </p:sp>
      <p:sp>
        <p:nvSpPr>
          <p:cNvPr id="8" name="Shape 5"/>
          <p:cNvSpPr/>
          <p:nvPr/>
        </p:nvSpPr>
        <p:spPr>
          <a:xfrm>
            <a:off x="548640" y="3319272"/>
            <a:ext cx="365760" cy="365760"/>
          </a:xfrm>
          <a:prstGeom prst="ellipse">
            <a:avLst/>
          </a:prstGeom>
          <a:solidFill>
            <a:srgbClr val="0B1E3D"/>
          </a:solidFill>
          <a:ln/>
        </p:spPr>
      </p:sp>
      <p:pic>
        <p:nvPicPr>
          <p:cNvPr id="9" name="Image 1" descr="/home/claude/edge_cloud/icon_dollar.png">    </p:cNvPr>
          <p:cNvPicPr>
            <a:picLocks noChangeAspect="1"/>
          </p:cNvPicPr>
          <p:nvPr/>
        </p:nvPicPr>
        <p:blipFill>
          <a:blip r:embed="rId2"/>
          <a:stretch>
            <a:fillRect/>
          </a:stretch>
        </p:blipFill>
        <p:spPr>
          <a:xfrm>
            <a:off x="640080" y="3410712"/>
            <a:ext cx="182880" cy="182880"/>
          </a:xfrm>
          <a:prstGeom prst="rect">
            <a:avLst/>
          </a:prstGeom>
        </p:spPr>
      </p:pic>
      <p:sp>
        <p:nvSpPr>
          <p:cNvPr id="10" name="Text 6"/>
          <p:cNvSpPr/>
          <p:nvPr/>
        </p:nvSpPr>
        <p:spPr>
          <a:xfrm>
            <a:off x="1051560" y="3264408"/>
            <a:ext cx="5852160" cy="457200"/>
          </a:xfrm>
          <a:prstGeom prst="rect">
            <a:avLst/>
          </a:prstGeom>
          <a:noFill/>
          <a:ln/>
        </p:spPr>
        <p:txBody>
          <a:bodyPr wrap="square" rtlCol="0" anchor="ctr"/>
          <a:lstStyle/>
          <a:p>
            <a:pPr indent="0" marL="0">
              <a:buNone/>
            </a:pPr>
            <a:r>
              <a:rPr lang="en-US" sz="1150" dirty="0">
                <a:solidFill>
                  <a:srgbClr val="1B2A4A"/>
                </a:solidFill>
                <a:latin typeface="Calibri" pitchFamily="34" charset="0"/>
                <a:ea typeface="Calibri" pitchFamily="34" charset="-122"/>
                <a:cs typeface="Calibri" pitchFamily="34" charset="-120"/>
              </a:rPr>
              <a:t>Pay-as-you-go economics; minimal upfront capital expense</a:t>
            </a:r>
            <a:endParaRPr lang="en-US" sz="1150" dirty="0"/>
          </a:p>
        </p:txBody>
      </p:sp>
      <p:sp>
        <p:nvSpPr>
          <p:cNvPr id="11" name="Shape 7"/>
          <p:cNvSpPr/>
          <p:nvPr/>
        </p:nvSpPr>
        <p:spPr>
          <a:xfrm>
            <a:off x="548640" y="3849624"/>
            <a:ext cx="365760" cy="365760"/>
          </a:xfrm>
          <a:prstGeom prst="ellipse">
            <a:avLst/>
          </a:prstGeom>
          <a:solidFill>
            <a:srgbClr val="0B1E3D"/>
          </a:solidFill>
          <a:ln/>
        </p:spPr>
      </p:sp>
      <p:pic>
        <p:nvPicPr>
          <p:cNvPr id="12" name="Image 2" descr="/home/claude/edge_cloud/icon_cogs.png">    </p:cNvPr>
          <p:cNvPicPr>
            <a:picLocks noChangeAspect="1"/>
          </p:cNvPicPr>
          <p:nvPr/>
        </p:nvPicPr>
        <p:blipFill>
          <a:blip r:embed="rId3"/>
          <a:stretch>
            <a:fillRect/>
          </a:stretch>
        </p:blipFill>
        <p:spPr>
          <a:xfrm>
            <a:off x="640080" y="3941064"/>
            <a:ext cx="182880" cy="182880"/>
          </a:xfrm>
          <a:prstGeom prst="rect">
            <a:avLst/>
          </a:prstGeom>
        </p:spPr>
      </p:pic>
      <p:sp>
        <p:nvSpPr>
          <p:cNvPr id="13" name="Text 8"/>
          <p:cNvSpPr/>
          <p:nvPr/>
        </p:nvSpPr>
        <p:spPr>
          <a:xfrm>
            <a:off x="1051560" y="3794760"/>
            <a:ext cx="5852160" cy="457200"/>
          </a:xfrm>
          <a:prstGeom prst="rect">
            <a:avLst/>
          </a:prstGeom>
          <a:noFill/>
          <a:ln/>
        </p:spPr>
        <p:txBody>
          <a:bodyPr wrap="square" rtlCol="0" anchor="ctr"/>
          <a:lstStyle/>
          <a:p>
            <a:pPr indent="0" marL="0">
              <a:buNone/>
            </a:pPr>
            <a:r>
              <a:rPr lang="en-US" sz="1150" dirty="0">
                <a:solidFill>
                  <a:srgbClr val="1B2A4A"/>
                </a:solidFill>
                <a:latin typeface="Calibri" pitchFamily="34" charset="0"/>
                <a:ea typeface="Calibri" pitchFamily="34" charset="-122"/>
                <a:cs typeface="Calibri" pitchFamily="34" charset="-120"/>
              </a:rPr>
              <a:t>Centralized management, patching, and orchestration</a:t>
            </a:r>
            <a:endParaRPr lang="en-US" sz="1150" dirty="0"/>
          </a:p>
        </p:txBody>
      </p:sp>
      <p:sp>
        <p:nvSpPr>
          <p:cNvPr id="14" name="Shape 9"/>
          <p:cNvSpPr/>
          <p:nvPr/>
        </p:nvSpPr>
        <p:spPr>
          <a:xfrm>
            <a:off x="548640" y="4379976"/>
            <a:ext cx="365760" cy="365760"/>
          </a:xfrm>
          <a:prstGeom prst="ellipse">
            <a:avLst/>
          </a:prstGeom>
          <a:solidFill>
            <a:srgbClr val="0B1E3D"/>
          </a:solidFill>
          <a:ln/>
        </p:spPr>
      </p:sp>
      <p:pic>
        <p:nvPicPr>
          <p:cNvPr id="15" name="Image 3" descr="/home/claude/edge_cloud/icon_globe.png">    </p:cNvPr>
          <p:cNvPicPr>
            <a:picLocks noChangeAspect="1"/>
          </p:cNvPicPr>
          <p:nvPr/>
        </p:nvPicPr>
        <p:blipFill>
          <a:blip r:embed="rId4"/>
          <a:stretch>
            <a:fillRect/>
          </a:stretch>
        </p:blipFill>
        <p:spPr>
          <a:xfrm>
            <a:off x="640080" y="4471416"/>
            <a:ext cx="182880" cy="182880"/>
          </a:xfrm>
          <a:prstGeom prst="rect">
            <a:avLst/>
          </a:prstGeom>
        </p:spPr>
      </p:pic>
      <p:sp>
        <p:nvSpPr>
          <p:cNvPr id="16" name="Text 10"/>
          <p:cNvSpPr/>
          <p:nvPr/>
        </p:nvSpPr>
        <p:spPr>
          <a:xfrm>
            <a:off x="1051560" y="4325112"/>
            <a:ext cx="5852160" cy="457200"/>
          </a:xfrm>
          <a:prstGeom prst="rect">
            <a:avLst/>
          </a:prstGeom>
          <a:noFill/>
          <a:ln/>
        </p:spPr>
        <p:txBody>
          <a:bodyPr wrap="square" rtlCol="0" anchor="ctr"/>
          <a:lstStyle/>
          <a:p>
            <a:pPr indent="0" marL="0">
              <a:buNone/>
            </a:pPr>
            <a:r>
              <a:rPr lang="en-US" sz="1150" dirty="0">
                <a:solidFill>
                  <a:srgbClr val="1B2A4A"/>
                </a:solidFill>
                <a:latin typeface="Calibri" pitchFamily="34" charset="0"/>
                <a:ea typeface="Calibri" pitchFamily="34" charset="-122"/>
                <a:cs typeface="Calibri" pitchFamily="34" charset="-120"/>
              </a:rPr>
              <a:t>Global reach via regions and content delivery networks</a:t>
            </a:r>
            <a:endParaRPr lang="en-US" sz="1150" dirty="0"/>
          </a:p>
        </p:txBody>
      </p:sp>
      <p:sp>
        <p:nvSpPr>
          <p:cNvPr id="17" name="Shape 11"/>
          <p:cNvSpPr/>
          <p:nvPr/>
        </p:nvSpPr>
        <p:spPr>
          <a:xfrm>
            <a:off x="7315200" y="548640"/>
            <a:ext cx="4297680" cy="5760720"/>
          </a:xfrm>
          <a:prstGeom prst="roundRect">
            <a:avLst>
              <a:gd name="adj" fmla="val 2553"/>
            </a:avLst>
          </a:prstGeom>
          <a:solidFill>
            <a:srgbClr val="0B1E3D"/>
          </a:solidFill>
          <a:ln/>
          <a:effectLst>
            <a:outerShdw sx="100000" sy="100000" kx="0" ky="0" algn="bl" rotWithShape="0" blurRad="101600" dist="38100" dir="5400000">
              <a:srgbClr val="0B1E3D">
                <a:alpha val="25000"/>
              </a:srgbClr>
            </a:outerShdw>
          </a:effectLst>
        </p:spPr>
      </p:sp>
      <p:sp>
        <p:nvSpPr>
          <p:cNvPr id="18" name="Text 12"/>
          <p:cNvSpPr/>
          <p:nvPr/>
        </p:nvSpPr>
        <p:spPr>
          <a:xfrm>
            <a:off x="7589520" y="777240"/>
            <a:ext cx="374904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Cloud Architecture</a:t>
            </a:r>
            <a:endParaRPr lang="en-US" sz="1300" dirty="0"/>
          </a:p>
        </p:txBody>
      </p:sp>
      <p:sp>
        <p:nvSpPr>
          <p:cNvPr id="19" name="Shape 13"/>
          <p:cNvSpPr/>
          <p:nvPr/>
        </p:nvSpPr>
        <p:spPr>
          <a:xfrm>
            <a:off x="7772400" y="1417320"/>
            <a:ext cx="502920" cy="502920"/>
          </a:xfrm>
          <a:prstGeom prst="ellipse">
            <a:avLst/>
          </a:prstGeom>
          <a:solidFill>
            <a:srgbClr val="13294B"/>
          </a:solidFill>
          <a:ln/>
          <a:effectLst>
            <a:outerShdw sx="100000" sy="100000" kx="0" ky="0" algn="bl" rotWithShape="0" blurRad="101600" dist="38100" dir="5400000">
              <a:srgbClr val="0B1E3D">
                <a:alpha val="25000"/>
              </a:srgbClr>
            </a:outerShdw>
          </a:effectLst>
        </p:spPr>
      </p:sp>
      <p:pic>
        <p:nvPicPr>
          <p:cNvPr id="20" name="Image 4" descr="/home/claude/edge_cloud/icon_chip.png">    </p:cNvPr>
          <p:cNvPicPr>
            <a:picLocks noChangeAspect="1"/>
          </p:cNvPicPr>
          <p:nvPr/>
        </p:nvPicPr>
        <p:blipFill>
          <a:blip r:embed="rId5"/>
          <a:stretch>
            <a:fillRect/>
          </a:stretch>
        </p:blipFill>
        <p:spPr>
          <a:xfrm>
            <a:off x="7837780" y="1482700"/>
            <a:ext cx="372161" cy="372161"/>
          </a:xfrm>
          <a:prstGeom prst="rect">
            <a:avLst/>
          </a:prstGeom>
        </p:spPr>
      </p:pic>
      <p:sp>
        <p:nvSpPr>
          <p:cNvPr id="21" name="Shape 14"/>
          <p:cNvSpPr/>
          <p:nvPr/>
        </p:nvSpPr>
        <p:spPr>
          <a:xfrm>
            <a:off x="8823960" y="1417320"/>
            <a:ext cx="502920" cy="502920"/>
          </a:xfrm>
          <a:prstGeom prst="ellipse">
            <a:avLst/>
          </a:prstGeom>
          <a:solidFill>
            <a:srgbClr val="13294B"/>
          </a:solidFill>
          <a:ln/>
          <a:effectLst>
            <a:outerShdw sx="100000" sy="100000" kx="0" ky="0" algn="bl" rotWithShape="0" blurRad="101600" dist="38100" dir="5400000">
              <a:srgbClr val="0B1E3D">
                <a:alpha val="25000"/>
              </a:srgbClr>
            </a:outerShdw>
          </a:effectLst>
        </p:spPr>
      </p:sp>
      <p:pic>
        <p:nvPicPr>
          <p:cNvPr id="22" name="Image 5" descr="/home/claude/edge_cloud/icon_car.png">    </p:cNvPr>
          <p:cNvPicPr>
            <a:picLocks noChangeAspect="1"/>
          </p:cNvPicPr>
          <p:nvPr/>
        </p:nvPicPr>
        <p:blipFill>
          <a:blip r:embed="rId6"/>
          <a:stretch>
            <a:fillRect/>
          </a:stretch>
        </p:blipFill>
        <p:spPr>
          <a:xfrm>
            <a:off x="8889340" y="1482700"/>
            <a:ext cx="372161" cy="372161"/>
          </a:xfrm>
          <a:prstGeom prst="rect">
            <a:avLst/>
          </a:prstGeom>
        </p:spPr>
      </p:pic>
      <p:sp>
        <p:nvSpPr>
          <p:cNvPr id="23" name="Shape 15"/>
          <p:cNvSpPr/>
          <p:nvPr/>
        </p:nvSpPr>
        <p:spPr>
          <a:xfrm>
            <a:off x="9875520" y="1417320"/>
            <a:ext cx="502920" cy="502920"/>
          </a:xfrm>
          <a:prstGeom prst="ellipse">
            <a:avLst/>
          </a:prstGeom>
          <a:solidFill>
            <a:srgbClr val="13294B"/>
          </a:solidFill>
          <a:ln/>
          <a:effectLst>
            <a:outerShdw sx="100000" sy="100000" kx="0" ky="0" algn="bl" rotWithShape="0" blurRad="101600" dist="38100" dir="5400000">
              <a:srgbClr val="0B1E3D">
                <a:alpha val="25000"/>
              </a:srgbClr>
            </a:outerShdw>
          </a:effectLst>
        </p:spPr>
      </p:sp>
      <p:pic>
        <p:nvPicPr>
          <p:cNvPr id="24" name="Image 6" descr="/home/claude/edge_cloud/icon_factory.png">    </p:cNvPr>
          <p:cNvPicPr>
            <a:picLocks noChangeAspect="1"/>
          </p:cNvPicPr>
          <p:nvPr/>
        </p:nvPicPr>
        <p:blipFill>
          <a:blip r:embed="rId7"/>
          <a:stretch>
            <a:fillRect/>
          </a:stretch>
        </p:blipFill>
        <p:spPr>
          <a:xfrm>
            <a:off x="9940900" y="1482700"/>
            <a:ext cx="372161" cy="372161"/>
          </a:xfrm>
          <a:prstGeom prst="rect">
            <a:avLst/>
          </a:prstGeom>
        </p:spPr>
      </p:pic>
      <p:sp>
        <p:nvSpPr>
          <p:cNvPr id="25" name="Text 16"/>
          <p:cNvSpPr/>
          <p:nvPr/>
        </p:nvSpPr>
        <p:spPr>
          <a:xfrm>
            <a:off x="7589520" y="2011680"/>
            <a:ext cx="3749040" cy="274320"/>
          </a:xfrm>
          <a:prstGeom prst="rect">
            <a:avLst/>
          </a:prstGeom>
          <a:noFill/>
          <a:ln/>
        </p:spPr>
        <p:txBody>
          <a:bodyPr wrap="square" rtlCol="0" anchor="ctr"/>
          <a:lstStyle/>
          <a:p>
            <a:pPr algn="ctr" indent="0" marL="0">
              <a:buNone/>
            </a:pPr>
            <a:r>
              <a:rPr lang="en-US" sz="950" dirty="0">
                <a:solidFill>
                  <a:srgbClr val="8FA3C4"/>
                </a:solidFill>
                <a:latin typeface="Calibri" pitchFamily="34" charset="0"/>
                <a:ea typeface="Calibri" pitchFamily="34" charset="-122"/>
                <a:cs typeface="Calibri" pitchFamily="34" charset="-120"/>
              </a:rPr>
              <a:t>End Devices / Users</a:t>
            </a:r>
            <a:endParaRPr lang="en-US" sz="950" dirty="0"/>
          </a:p>
        </p:txBody>
      </p:sp>
      <p:sp>
        <p:nvSpPr>
          <p:cNvPr id="26" name="Shape 17"/>
          <p:cNvSpPr/>
          <p:nvPr/>
        </p:nvSpPr>
        <p:spPr>
          <a:xfrm>
            <a:off x="9464040" y="2377440"/>
            <a:ext cx="0" cy="502920"/>
          </a:xfrm>
          <a:prstGeom prst="line">
            <a:avLst/>
          </a:prstGeom>
          <a:noFill/>
          <a:ln w="25400">
            <a:solidFill>
              <a:srgbClr val="00D4FF"/>
            </a:solidFill>
            <a:prstDash val="solid"/>
            <a:tailEnd type="triangle"/>
          </a:ln>
        </p:spPr>
      </p:sp>
      <p:sp>
        <p:nvSpPr>
          <p:cNvPr id="27" name="Text 18"/>
          <p:cNvSpPr/>
          <p:nvPr/>
        </p:nvSpPr>
        <p:spPr>
          <a:xfrm>
            <a:off x="7589520" y="2880360"/>
            <a:ext cx="3749040" cy="274320"/>
          </a:xfrm>
          <a:prstGeom prst="rect">
            <a:avLst/>
          </a:prstGeom>
          <a:noFill/>
          <a:ln/>
        </p:spPr>
        <p:txBody>
          <a:bodyPr wrap="square" rtlCol="0" anchor="ctr"/>
          <a:lstStyle/>
          <a:p>
            <a:pPr algn="ctr" indent="0" marL="0">
              <a:buNone/>
            </a:pPr>
            <a:r>
              <a:rPr lang="en-US" sz="950" i="1" dirty="0">
                <a:solidFill>
                  <a:srgbClr val="00D4FF"/>
                </a:solidFill>
                <a:latin typeface="Calibri" pitchFamily="34" charset="0"/>
                <a:ea typeface="Calibri" pitchFamily="34" charset="-122"/>
                <a:cs typeface="Calibri" pitchFamily="34" charset="-120"/>
              </a:rPr>
              <a:t>Internet (higher latency)</a:t>
            </a:r>
            <a:endParaRPr lang="en-US" sz="950" dirty="0"/>
          </a:p>
        </p:txBody>
      </p:sp>
      <p:sp>
        <p:nvSpPr>
          <p:cNvPr id="28" name="Shape 19"/>
          <p:cNvSpPr/>
          <p:nvPr/>
        </p:nvSpPr>
        <p:spPr>
          <a:xfrm>
            <a:off x="9464040" y="3154680"/>
            <a:ext cx="0" cy="365760"/>
          </a:xfrm>
          <a:prstGeom prst="line">
            <a:avLst/>
          </a:prstGeom>
          <a:noFill/>
          <a:ln w="25400">
            <a:solidFill>
              <a:srgbClr val="00D4FF"/>
            </a:solidFill>
            <a:prstDash val="solid"/>
            <a:tailEnd type="triangle"/>
          </a:ln>
        </p:spPr>
      </p:sp>
      <p:sp>
        <p:nvSpPr>
          <p:cNvPr id="29" name="Shape 20"/>
          <p:cNvSpPr/>
          <p:nvPr/>
        </p:nvSpPr>
        <p:spPr>
          <a:xfrm>
            <a:off x="9006840" y="3566160"/>
            <a:ext cx="914400" cy="914400"/>
          </a:xfrm>
          <a:prstGeom prst="ellipse">
            <a:avLst/>
          </a:prstGeom>
          <a:solidFill>
            <a:srgbClr val="FF8C42"/>
          </a:solidFill>
          <a:ln/>
          <a:effectLst>
            <a:outerShdw sx="100000" sy="100000" kx="0" ky="0" algn="bl" rotWithShape="0" blurRad="101600" dist="38100" dir="5400000">
              <a:srgbClr val="0B1E3D">
                <a:alpha val="25000"/>
              </a:srgbClr>
            </a:outerShdw>
          </a:effectLst>
        </p:spPr>
      </p:sp>
      <p:pic>
        <p:nvPicPr>
          <p:cNvPr id="30" name="Image 7" descr="/home/claude/edge_cloud/icon_cloud.png">    </p:cNvPr>
          <p:cNvPicPr>
            <a:picLocks noChangeAspect="1"/>
          </p:cNvPicPr>
          <p:nvPr/>
        </p:nvPicPr>
        <p:blipFill>
          <a:blip r:embed="rId8"/>
          <a:stretch>
            <a:fillRect/>
          </a:stretch>
        </p:blipFill>
        <p:spPr>
          <a:xfrm>
            <a:off x="9125712" y="3685032"/>
            <a:ext cx="676656" cy="676656"/>
          </a:xfrm>
          <a:prstGeom prst="rect">
            <a:avLst/>
          </a:prstGeom>
        </p:spPr>
      </p:pic>
      <p:sp>
        <p:nvSpPr>
          <p:cNvPr id="31" name="Text 21"/>
          <p:cNvSpPr/>
          <p:nvPr/>
        </p:nvSpPr>
        <p:spPr>
          <a:xfrm>
            <a:off x="7589520" y="4526280"/>
            <a:ext cx="374904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Centralized Data Center</a:t>
            </a:r>
            <a:endParaRPr lang="en-US" sz="1100" dirty="0"/>
          </a:p>
        </p:txBody>
      </p:sp>
      <p:sp>
        <p:nvSpPr>
          <p:cNvPr id="32" name="Text 22"/>
          <p:cNvSpPr/>
          <p:nvPr/>
        </p:nvSpPr>
        <p:spPr>
          <a:xfrm>
            <a:off x="7589520" y="4800600"/>
            <a:ext cx="3749040" cy="548640"/>
          </a:xfrm>
          <a:prstGeom prst="rect">
            <a:avLst/>
          </a:prstGeom>
          <a:noFill/>
          <a:ln/>
        </p:spPr>
        <p:txBody>
          <a:bodyPr wrap="square" rtlCol="0" anchor="ctr"/>
          <a:lstStyle/>
          <a:p>
            <a:pPr algn="ctr" indent="0" marL="0">
              <a:buNone/>
            </a:pPr>
            <a:r>
              <a:rPr lang="en-US" sz="950" dirty="0">
                <a:solidFill>
                  <a:srgbClr val="8FA3C4"/>
                </a:solidFill>
                <a:latin typeface="Calibri" pitchFamily="34" charset="0"/>
                <a:ea typeface="Calibri" pitchFamily="34" charset="-122"/>
                <a:cs typeface="Calibri" pitchFamily="34" charset="-120"/>
              </a:rPr>
              <a:t>Massive compute · Storage · AI training</a:t>
            </a:r>
            <a:endParaRPr lang="en-US" sz="950" dirty="0"/>
          </a:p>
        </p:txBody>
      </p:sp>
      <p:sp>
        <p:nvSpPr>
          <p:cNvPr id="33" name="Text 23"/>
          <p:cNvSpPr/>
          <p:nvPr/>
        </p:nvSpPr>
        <p:spPr>
          <a:xfrm>
            <a:off x="7589520" y="5577840"/>
            <a:ext cx="3749040" cy="548640"/>
          </a:xfrm>
          <a:prstGeom prst="rect">
            <a:avLst/>
          </a:prstGeom>
          <a:noFill/>
          <a:ln/>
        </p:spPr>
        <p:txBody>
          <a:bodyPr wrap="square" rtlCol="0" anchor="ctr"/>
          <a:lstStyle/>
          <a:p>
            <a:pPr algn="ctr" indent="0" marL="0">
              <a:buNone/>
            </a:pPr>
            <a:r>
              <a:rPr lang="en-US" sz="950" i="1" dirty="0">
                <a:solidFill>
                  <a:srgbClr val="C9D6EC"/>
                </a:solidFill>
                <a:latin typeface="Calibri" pitchFamily="34" charset="0"/>
                <a:ea typeface="Calibri" pitchFamily="34" charset="-122"/>
                <a:cs typeface="Calibri" pitchFamily="34" charset="-120"/>
              </a:rPr>
              <a:t>All data travels round-trip to a remote facility for processing.</a:t>
            </a:r>
            <a:endParaRPr lang="en-US" sz="950" dirty="0"/>
          </a:p>
        </p:txBody>
      </p:sp>
      <p:sp>
        <p:nvSpPr>
          <p:cNvPr id="34" name="Text 24"/>
          <p:cNvSpPr/>
          <p:nvPr/>
        </p:nvSpPr>
        <p:spPr>
          <a:xfrm>
            <a:off x="457200" y="6537960"/>
            <a:ext cx="5486400" cy="274320"/>
          </a:xfrm>
          <a:prstGeom prst="rect">
            <a:avLst/>
          </a:prstGeom>
          <a:noFill/>
          <a:ln/>
        </p:spPr>
        <p:txBody>
          <a:bodyPr wrap="square" rtlCol="0" anchor="ctr"/>
          <a:lstStyle/>
          <a:p>
            <a:pPr indent="0" marL="0">
              <a:buNone/>
            </a:pPr>
            <a:r>
              <a:rPr lang="en-US" sz="900" i="1" dirty="0">
                <a:solidFill>
                  <a:srgbClr val="5B6B85"/>
                </a:solidFill>
                <a:latin typeface="Calibri" pitchFamily="34" charset="0"/>
                <a:ea typeface="Calibri" pitchFamily="34" charset="-122"/>
                <a:cs typeface="Calibri" pitchFamily="34" charset="-120"/>
              </a:rPr>
              <a:t>Edge vs Cloud Computing</a:t>
            </a:r>
            <a:endParaRPr lang="en-US" sz="900" dirty="0"/>
          </a:p>
        </p:txBody>
      </p:sp>
      <p:sp>
        <p:nvSpPr>
          <p:cNvPr id="35" name="Text 25"/>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indent="0" marL="0">
              <a:buNone/>
            </a:pPr>
            <a:r>
              <a:rPr lang="en-US" sz="1200" b="1" spc="200" kern="0" dirty="0">
                <a:solidFill>
                  <a:srgbClr val="0090A8"/>
                </a:solidFill>
                <a:latin typeface="Calibri" pitchFamily="34" charset="0"/>
                <a:ea typeface="Calibri" pitchFamily="34" charset="-122"/>
                <a:cs typeface="Calibri" pitchFamily="34" charset="-120"/>
              </a:rPr>
              <a:t>EDGE COMPUTING</a:t>
            </a:r>
            <a:endParaRPr lang="en-US" sz="1200" dirty="0"/>
          </a:p>
        </p:txBody>
      </p:sp>
      <p:sp>
        <p:nvSpPr>
          <p:cNvPr id="3" name="Text 1"/>
          <p:cNvSpPr/>
          <p:nvPr/>
        </p:nvSpPr>
        <p:spPr>
          <a:xfrm>
            <a:off x="548640" y="749808"/>
            <a:ext cx="6858000" cy="64008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Intelligence at the Source</a:t>
            </a:r>
            <a:endParaRPr lang="en-US" sz="2800" dirty="0"/>
          </a:p>
        </p:txBody>
      </p:sp>
      <p:sp>
        <p:nvSpPr>
          <p:cNvPr id="4" name="Text 2"/>
          <p:cNvSpPr/>
          <p:nvPr/>
        </p:nvSpPr>
        <p:spPr>
          <a:xfrm>
            <a:off x="548640" y="1508760"/>
            <a:ext cx="6309360" cy="1188720"/>
          </a:xfrm>
          <a:prstGeom prst="rect">
            <a:avLst/>
          </a:prstGeom>
          <a:noFill/>
          <a:ln/>
        </p:spPr>
        <p:txBody>
          <a:bodyPr wrap="square" rtlCol="0" anchor="ctr"/>
          <a:lstStyle/>
          <a:p>
            <a:pPr indent="0" marL="0">
              <a:lnSpc>
                <a:spcPct val="125000"/>
              </a:lnSpc>
              <a:buNone/>
            </a:pPr>
            <a:r>
              <a:rPr lang="en-US" sz="1300" dirty="0">
                <a:solidFill>
                  <a:srgbClr val="1B2A4A"/>
                </a:solidFill>
                <a:latin typeface="Calibri" pitchFamily="34" charset="0"/>
                <a:ea typeface="Calibri" pitchFamily="34" charset="-122"/>
                <a:cs typeface="Calibri" pitchFamily="34" charset="-120"/>
              </a:rPr>
              <a:t>Edge computing moves processing closer to where data is generated — on devices, gateways, or local micro data centers — rather than sending everything to a distant cloud. This cuts round-trip time and keeps sensitive data local.</a:t>
            </a:r>
            <a:endParaRPr lang="en-US" sz="1300" dirty="0"/>
          </a:p>
        </p:txBody>
      </p:sp>
      <p:sp>
        <p:nvSpPr>
          <p:cNvPr id="5" name="Shape 3"/>
          <p:cNvSpPr/>
          <p:nvPr/>
        </p:nvSpPr>
        <p:spPr>
          <a:xfrm>
            <a:off x="548640" y="2788920"/>
            <a:ext cx="365760" cy="365760"/>
          </a:xfrm>
          <a:prstGeom prst="ellipse">
            <a:avLst/>
          </a:prstGeom>
          <a:solidFill>
            <a:srgbClr val="0090A8"/>
          </a:solidFill>
          <a:ln/>
        </p:spPr>
      </p:sp>
      <p:pic>
        <p:nvPicPr>
          <p:cNvPr id="6" name="Image 0" descr="/home/claude/edge_cloud/icon_bolt.png">    </p:cNvPr>
          <p:cNvPicPr>
            <a:picLocks noChangeAspect="1"/>
          </p:cNvPicPr>
          <p:nvPr/>
        </p:nvPicPr>
        <p:blipFill>
          <a:blip r:embed="rId1"/>
          <a:stretch>
            <a:fillRect/>
          </a:stretch>
        </p:blipFill>
        <p:spPr>
          <a:xfrm>
            <a:off x="640080" y="2880360"/>
            <a:ext cx="182880" cy="182880"/>
          </a:xfrm>
          <a:prstGeom prst="rect">
            <a:avLst/>
          </a:prstGeom>
        </p:spPr>
      </p:pic>
      <p:sp>
        <p:nvSpPr>
          <p:cNvPr id="7" name="Text 4"/>
          <p:cNvSpPr/>
          <p:nvPr/>
        </p:nvSpPr>
        <p:spPr>
          <a:xfrm>
            <a:off x="1051560" y="2734056"/>
            <a:ext cx="5852160" cy="457200"/>
          </a:xfrm>
          <a:prstGeom prst="rect">
            <a:avLst/>
          </a:prstGeom>
          <a:noFill/>
          <a:ln/>
        </p:spPr>
        <p:txBody>
          <a:bodyPr wrap="square" rtlCol="0" anchor="ctr"/>
          <a:lstStyle/>
          <a:p>
            <a:pPr indent="0" marL="0">
              <a:buNone/>
            </a:pPr>
            <a:r>
              <a:rPr lang="en-US" sz="1150" dirty="0">
                <a:solidFill>
                  <a:srgbClr val="1B2A4A"/>
                </a:solidFill>
                <a:latin typeface="Calibri" pitchFamily="34" charset="0"/>
                <a:ea typeface="Calibri" pitchFamily="34" charset="-122"/>
                <a:cs typeface="Calibri" pitchFamily="34" charset="-120"/>
              </a:rPr>
              <a:t>Ultra-low latency for real-time decisions and control loops</a:t>
            </a:r>
            <a:endParaRPr lang="en-US" sz="1150" dirty="0"/>
          </a:p>
        </p:txBody>
      </p:sp>
      <p:sp>
        <p:nvSpPr>
          <p:cNvPr id="8" name="Shape 5"/>
          <p:cNvSpPr/>
          <p:nvPr/>
        </p:nvSpPr>
        <p:spPr>
          <a:xfrm>
            <a:off x="548640" y="3319272"/>
            <a:ext cx="365760" cy="365760"/>
          </a:xfrm>
          <a:prstGeom prst="ellipse">
            <a:avLst/>
          </a:prstGeom>
          <a:solidFill>
            <a:srgbClr val="0090A8"/>
          </a:solidFill>
          <a:ln/>
        </p:spPr>
      </p:sp>
      <p:pic>
        <p:nvPicPr>
          <p:cNvPr id="9" name="Image 1" descr="/home/claude/edge_cloud/icon_wifi.png">    </p:cNvPr>
          <p:cNvPicPr>
            <a:picLocks noChangeAspect="1"/>
          </p:cNvPicPr>
          <p:nvPr/>
        </p:nvPicPr>
        <p:blipFill>
          <a:blip r:embed="rId2"/>
          <a:stretch>
            <a:fillRect/>
          </a:stretch>
        </p:blipFill>
        <p:spPr>
          <a:xfrm>
            <a:off x="640080" y="3410712"/>
            <a:ext cx="182880" cy="182880"/>
          </a:xfrm>
          <a:prstGeom prst="rect">
            <a:avLst/>
          </a:prstGeom>
        </p:spPr>
      </p:pic>
      <p:sp>
        <p:nvSpPr>
          <p:cNvPr id="10" name="Text 6"/>
          <p:cNvSpPr/>
          <p:nvPr/>
        </p:nvSpPr>
        <p:spPr>
          <a:xfrm>
            <a:off x="1051560" y="3264408"/>
            <a:ext cx="5852160" cy="457200"/>
          </a:xfrm>
          <a:prstGeom prst="rect">
            <a:avLst/>
          </a:prstGeom>
          <a:noFill/>
          <a:ln/>
        </p:spPr>
        <p:txBody>
          <a:bodyPr wrap="square" rtlCol="0" anchor="ctr"/>
          <a:lstStyle/>
          <a:p>
            <a:pPr indent="0" marL="0">
              <a:buNone/>
            </a:pPr>
            <a:r>
              <a:rPr lang="en-US" sz="1150" dirty="0">
                <a:solidFill>
                  <a:srgbClr val="1B2A4A"/>
                </a:solidFill>
                <a:latin typeface="Calibri" pitchFamily="34" charset="0"/>
                <a:ea typeface="Calibri" pitchFamily="34" charset="-122"/>
                <a:cs typeface="Calibri" pitchFamily="34" charset="-120"/>
              </a:rPr>
              <a:t>Reduced bandwidth use — only relevant data reaches the cloud</a:t>
            </a:r>
            <a:endParaRPr lang="en-US" sz="1150" dirty="0"/>
          </a:p>
        </p:txBody>
      </p:sp>
      <p:sp>
        <p:nvSpPr>
          <p:cNvPr id="11" name="Shape 7"/>
          <p:cNvSpPr/>
          <p:nvPr/>
        </p:nvSpPr>
        <p:spPr>
          <a:xfrm>
            <a:off x="548640" y="3849624"/>
            <a:ext cx="365760" cy="365760"/>
          </a:xfrm>
          <a:prstGeom prst="ellipse">
            <a:avLst/>
          </a:prstGeom>
          <a:solidFill>
            <a:srgbClr val="0090A8"/>
          </a:solidFill>
          <a:ln/>
        </p:spPr>
      </p:sp>
      <p:pic>
        <p:nvPicPr>
          <p:cNvPr id="12" name="Image 2" descr="/home/claude/edge_cloud/icon_lock.png">    </p:cNvPr>
          <p:cNvPicPr>
            <a:picLocks noChangeAspect="1"/>
          </p:cNvPicPr>
          <p:nvPr/>
        </p:nvPicPr>
        <p:blipFill>
          <a:blip r:embed="rId3"/>
          <a:stretch>
            <a:fillRect/>
          </a:stretch>
        </p:blipFill>
        <p:spPr>
          <a:xfrm>
            <a:off x="640080" y="3941064"/>
            <a:ext cx="182880" cy="182880"/>
          </a:xfrm>
          <a:prstGeom prst="rect">
            <a:avLst/>
          </a:prstGeom>
        </p:spPr>
      </p:pic>
      <p:sp>
        <p:nvSpPr>
          <p:cNvPr id="13" name="Text 8"/>
          <p:cNvSpPr/>
          <p:nvPr/>
        </p:nvSpPr>
        <p:spPr>
          <a:xfrm>
            <a:off x="1051560" y="3794760"/>
            <a:ext cx="5852160" cy="457200"/>
          </a:xfrm>
          <a:prstGeom prst="rect">
            <a:avLst/>
          </a:prstGeom>
          <a:noFill/>
          <a:ln/>
        </p:spPr>
        <p:txBody>
          <a:bodyPr wrap="square" rtlCol="0" anchor="ctr"/>
          <a:lstStyle/>
          <a:p>
            <a:pPr indent="0" marL="0">
              <a:buNone/>
            </a:pPr>
            <a:r>
              <a:rPr lang="en-US" sz="1150" dirty="0">
                <a:solidFill>
                  <a:srgbClr val="1B2A4A"/>
                </a:solidFill>
                <a:latin typeface="Calibri" pitchFamily="34" charset="0"/>
                <a:ea typeface="Calibri" pitchFamily="34" charset="-122"/>
                <a:cs typeface="Calibri" pitchFamily="34" charset="-120"/>
              </a:rPr>
              <a:t>Data can stay on-premises, easing privacy and compliance needs</a:t>
            </a:r>
            <a:endParaRPr lang="en-US" sz="1150" dirty="0"/>
          </a:p>
        </p:txBody>
      </p:sp>
      <p:sp>
        <p:nvSpPr>
          <p:cNvPr id="14" name="Shape 9"/>
          <p:cNvSpPr/>
          <p:nvPr/>
        </p:nvSpPr>
        <p:spPr>
          <a:xfrm>
            <a:off x="548640" y="4379976"/>
            <a:ext cx="365760" cy="365760"/>
          </a:xfrm>
          <a:prstGeom prst="ellipse">
            <a:avLst/>
          </a:prstGeom>
          <a:solidFill>
            <a:srgbClr val="0090A8"/>
          </a:solidFill>
          <a:ln/>
        </p:spPr>
      </p:sp>
      <p:pic>
        <p:nvPicPr>
          <p:cNvPr id="15" name="Image 3" descr="/home/claude/edge_cloud/icon_network.png">    </p:cNvPr>
          <p:cNvPicPr>
            <a:picLocks noChangeAspect="1"/>
          </p:cNvPicPr>
          <p:nvPr/>
        </p:nvPicPr>
        <p:blipFill>
          <a:blip r:embed="rId4"/>
          <a:stretch>
            <a:fillRect/>
          </a:stretch>
        </p:blipFill>
        <p:spPr>
          <a:xfrm>
            <a:off x="640080" y="4471416"/>
            <a:ext cx="182880" cy="182880"/>
          </a:xfrm>
          <a:prstGeom prst="rect">
            <a:avLst/>
          </a:prstGeom>
        </p:spPr>
      </p:pic>
      <p:sp>
        <p:nvSpPr>
          <p:cNvPr id="16" name="Text 10"/>
          <p:cNvSpPr/>
          <p:nvPr/>
        </p:nvSpPr>
        <p:spPr>
          <a:xfrm>
            <a:off x="1051560" y="4325112"/>
            <a:ext cx="5852160" cy="457200"/>
          </a:xfrm>
          <a:prstGeom prst="rect">
            <a:avLst/>
          </a:prstGeom>
          <a:noFill/>
          <a:ln/>
        </p:spPr>
        <p:txBody>
          <a:bodyPr wrap="square" rtlCol="0" anchor="ctr"/>
          <a:lstStyle/>
          <a:p>
            <a:pPr indent="0" marL="0">
              <a:buNone/>
            </a:pPr>
            <a:r>
              <a:rPr lang="en-US" sz="1150" dirty="0">
                <a:solidFill>
                  <a:srgbClr val="1B2A4A"/>
                </a:solidFill>
                <a:latin typeface="Calibri" pitchFamily="34" charset="0"/>
                <a:ea typeface="Calibri" pitchFamily="34" charset="-122"/>
                <a:cs typeface="Calibri" pitchFamily="34" charset="-120"/>
              </a:rPr>
              <a:t>Continues operating during intermittent connectivity</a:t>
            </a:r>
            <a:endParaRPr lang="en-US" sz="1150" dirty="0"/>
          </a:p>
        </p:txBody>
      </p:sp>
      <p:sp>
        <p:nvSpPr>
          <p:cNvPr id="17" name="Shape 11"/>
          <p:cNvSpPr/>
          <p:nvPr/>
        </p:nvSpPr>
        <p:spPr>
          <a:xfrm>
            <a:off x="7315200" y="548640"/>
            <a:ext cx="4297680" cy="5760720"/>
          </a:xfrm>
          <a:prstGeom prst="roundRect">
            <a:avLst>
              <a:gd name="adj" fmla="val 2553"/>
            </a:avLst>
          </a:prstGeom>
          <a:solidFill>
            <a:srgbClr val="0B1E3D"/>
          </a:solidFill>
          <a:ln/>
          <a:effectLst>
            <a:outerShdw sx="100000" sy="100000" kx="0" ky="0" algn="bl" rotWithShape="0" blurRad="101600" dist="38100" dir="5400000">
              <a:srgbClr val="0B1E3D">
                <a:alpha val="25000"/>
              </a:srgbClr>
            </a:outerShdw>
          </a:effectLst>
        </p:spPr>
      </p:sp>
      <p:sp>
        <p:nvSpPr>
          <p:cNvPr id="18" name="Text 12"/>
          <p:cNvSpPr/>
          <p:nvPr/>
        </p:nvSpPr>
        <p:spPr>
          <a:xfrm>
            <a:off x="7589520" y="777240"/>
            <a:ext cx="374904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Edge Architecture</a:t>
            </a:r>
            <a:endParaRPr lang="en-US" sz="1300" dirty="0"/>
          </a:p>
        </p:txBody>
      </p:sp>
      <p:sp>
        <p:nvSpPr>
          <p:cNvPr id="19" name="Shape 13"/>
          <p:cNvSpPr/>
          <p:nvPr/>
        </p:nvSpPr>
        <p:spPr>
          <a:xfrm>
            <a:off x="7818120" y="1371600"/>
            <a:ext cx="502920" cy="502920"/>
          </a:xfrm>
          <a:prstGeom prst="ellipse">
            <a:avLst/>
          </a:prstGeom>
          <a:solidFill>
            <a:srgbClr val="13294B"/>
          </a:solidFill>
          <a:ln/>
          <a:effectLst>
            <a:outerShdw sx="100000" sy="100000" kx="0" ky="0" algn="bl" rotWithShape="0" blurRad="101600" dist="38100" dir="5400000">
              <a:srgbClr val="0B1E3D">
                <a:alpha val="25000"/>
              </a:srgbClr>
            </a:outerShdw>
          </a:effectLst>
        </p:spPr>
      </p:sp>
      <p:pic>
        <p:nvPicPr>
          <p:cNvPr id="20" name="Image 4" descr="/home/claude/edge_cloud/icon_factory.png">    </p:cNvPr>
          <p:cNvPicPr>
            <a:picLocks noChangeAspect="1"/>
          </p:cNvPicPr>
          <p:nvPr/>
        </p:nvPicPr>
        <p:blipFill>
          <a:blip r:embed="rId5"/>
          <a:stretch>
            <a:fillRect/>
          </a:stretch>
        </p:blipFill>
        <p:spPr>
          <a:xfrm>
            <a:off x="7883500" y="1436980"/>
            <a:ext cx="372161" cy="372161"/>
          </a:xfrm>
          <a:prstGeom prst="rect">
            <a:avLst/>
          </a:prstGeom>
        </p:spPr>
      </p:pic>
      <p:sp>
        <p:nvSpPr>
          <p:cNvPr id="21" name="Shape 14"/>
          <p:cNvSpPr/>
          <p:nvPr/>
        </p:nvSpPr>
        <p:spPr>
          <a:xfrm>
            <a:off x="8069580" y="1901952"/>
            <a:ext cx="0" cy="320040"/>
          </a:xfrm>
          <a:prstGeom prst="line">
            <a:avLst/>
          </a:prstGeom>
          <a:noFill/>
          <a:ln w="25400">
            <a:solidFill>
              <a:srgbClr val="00D4FF"/>
            </a:solidFill>
            <a:prstDash val="solid"/>
            <a:tailEnd type="triangle"/>
          </a:ln>
        </p:spPr>
      </p:sp>
      <p:sp>
        <p:nvSpPr>
          <p:cNvPr id="22" name="Shape 15"/>
          <p:cNvSpPr/>
          <p:nvPr/>
        </p:nvSpPr>
        <p:spPr>
          <a:xfrm>
            <a:off x="7863840" y="2240280"/>
            <a:ext cx="411480" cy="411480"/>
          </a:xfrm>
          <a:prstGeom prst="ellipse">
            <a:avLst/>
          </a:prstGeom>
          <a:solidFill>
            <a:srgbClr val="00D4FF"/>
          </a:solidFill>
          <a:ln/>
          <a:effectLst>
            <a:outerShdw sx="100000" sy="100000" kx="0" ky="0" algn="bl" rotWithShape="0" blurRad="101600" dist="38100" dir="5400000">
              <a:srgbClr val="0B1E3D">
                <a:alpha val="25000"/>
              </a:srgbClr>
            </a:outerShdw>
          </a:effectLst>
        </p:spPr>
      </p:sp>
      <p:pic>
        <p:nvPicPr>
          <p:cNvPr id="23" name="Image 5" descr="/home/claude/edge_cloud/icon_chip.png">    </p:cNvPr>
          <p:cNvPicPr>
            <a:picLocks noChangeAspect="1"/>
          </p:cNvPicPr>
          <p:nvPr/>
        </p:nvPicPr>
        <p:blipFill>
          <a:blip r:embed="rId6"/>
          <a:stretch>
            <a:fillRect/>
          </a:stretch>
        </p:blipFill>
        <p:spPr>
          <a:xfrm>
            <a:off x="7917332" y="2293772"/>
            <a:ext cx="304495" cy="304495"/>
          </a:xfrm>
          <a:prstGeom prst="rect">
            <a:avLst/>
          </a:prstGeom>
        </p:spPr>
      </p:pic>
      <p:sp>
        <p:nvSpPr>
          <p:cNvPr id="24" name="Shape 16"/>
          <p:cNvSpPr/>
          <p:nvPr/>
        </p:nvSpPr>
        <p:spPr>
          <a:xfrm>
            <a:off x="9189720" y="1371600"/>
            <a:ext cx="502920" cy="502920"/>
          </a:xfrm>
          <a:prstGeom prst="ellipse">
            <a:avLst/>
          </a:prstGeom>
          <a:solidFill>
            <a:srgbClr val="13294B"/>
          </a:solidFill>
          <a:ln/>
          <a:effectLst>
            <a:outerShdw sx="100000" sy="100000" kx="0" ky="0" algn="bl" rotWithShape="0" blurRad="101600" dist="38100" dir="5400000">
              <a:srgbClr val="0B1E3D">
                <a:alpha val="25000"/>
              </a:srgbClr>
            </a:outerShdw>
          </a:effectLst>
        </p:spPr>
      </p:sp>
      <p:pic>
        <p:nvPicPr>
          <p:cNvPr id="25" name="Image 6" descr="/home/claude/edge_cloud/icon_heartbeat.png">    </p:cNvPr>
          <p:cNvPicPr>
            <a:picLocks noChangeAspect="1"/>
          </p:cNvPicPr>
          <p:nvPr/>
        </p:nvPicPr>
        <p:blipFill>
          <a:blip r:embed="rId7"/>
          <a:stretch>
            <a:fillRect/>
          </a:stretch>
        </p:blipFill>
        <p:spPr>
          <a:xfrm>
            <a:off x="9255100" y="1436980"/>
            <a:ext cx="372161" cy="372161"/>
          </a:xfrm>
          <a:prstGeom prst="rect">
            <a:avLst/>
          </a:prstGeom>
        </p:spPr>
      </p:pic>
      <p:sp>
        <p:nvSpPr>
          <p:cNvPr id="26" name="Shape 17"/>
          <p:cNvSpPr/>
          <p:nvPr/>
        </p:nvSpPr>
        <p:spPr>
          <a:xfrm>
            <a:off x="9441180" y="1901952"/>
            <a:ext cx="0" cy="320040"/>
          </a:xfrm>
          <a:prstGeom prst="line">
            <a:avLst/>
          </a:prstGeom>
          <a:noFill/>
          <a:ln w="25400">
            <a:solidFill>
              <a:srgbClr val="00D4FF"/>
            </a:solidFill>
            <a:prstDash val="solid"/>
            <a:tailEnd type="triangle"/>
          </a:ln>
        </p:spPr>
      </p:sp>
      <p:sp>
        <p:nvSpPr>
          <p:cNvPr id="27" name="Shape 18"/>
          <p:cNvSpPr/>
          <p:nvPr/>
        </p:nvSpPr>
        <p:spPr>
          <a:xfrm>
            <a:off x="9235440" y="2240280"/>
            <a:ext cx="411480" cy="411480"/>
          </a:xfrm>
          <a:prstGeom prst="ellipse">
            <a:avLst/>
          </a:prstGeom>
          <a:solidFill>
            <a:srgbClr val="00D4FF"/>
          </a:solidFill>
          <a:ln/>
          <a:effectLst>
            <a:outerShdw sx="100000" sy="100000" kx="0" ky="0" algn="bl" rotWithShape="0" blurRad="101600" dist="38100" dir="5400000">
              <a:srgbClr val="0B1E3D">
                <a:alpha val="25000"/>
              </a:srgbClr>
            </a:outerShdw>
          </a:effectLst>
        </p:spPr>
      </p:sp>
      <p:pic>
        <p:nvPicPr>
          <p:cNvPr id="28" name="Image 7" descr="/home/claude/edge_cloud/icon_chip.png">    </p:cNvPr>
          <p:cNvPicPr>
            <a:picLocks noChangeAspect="1"/>
          </p:cNvPicPr>
          <p:nvPr/>
        </p:nvPicPr>
        <p:blipFill>
          <a:blip r:embed="rId8"/>
          <a:stretch>
            <a:fillRect/>
          </a:stretch>
        </p:blipFill>
        <p:spPr>
          <a:xfrm>
            <a:off x="9288932" y="2293772"/>
            <a:ext cx="304495" cy="304495"/>
          </a:xfrm>
          <a:prstGeom prst="rect">
            <a:avLst/>
          </a:prstGeom>
        </p:spPr>
      </p:pic>
      <p:sp>
        <p:nvSpPr>
          <p:cNvPr id="29" name="Shape 19"/>
          <p:cNvSpPr/>
          <p:nvPr/>
        </p:nvSpPr>
        <p:spPr>
          <a:xfrm>
            <a:off x="10561320" y="1371600"/>
            <a:ext cx="502920" cy="502920"/>
          </a:xfrm>
          <a:prstGeom prst="ellipse">
            <a:avLst/>
          </a:prstGeom>
          <a:solidFill>
            <a:srgbClr val="13294B"/>
          </a:solidFill>
          <a:ln/>
          <a:effectLst>
            <a:outerShdw sx="100000" sy="100000" kx="0" ky="0" algn="bl" rotWithShape="0" blurRad="101600" dist="38100" dir="5400000">
              <a:srgbClr val="0B1E3D">
                <a:alpha val="25000"/>
              </a:srgbClr>
            </a:outerShdw>
          </a:effectLst>
        </p:spPr>
      </p:sp>
      <p:pic>
        <p:nvPicPr>
          <p:cNvPr id="30" name="Image 8" descr="/home/claude/edge_cloud/icon_car.png">    </p:cNvPr>
          <p:cNvPicPr>
            <a:picLocks noChangeAspect="1"/>
          </p:cNvPicPr>
          <p:nvPr/>
        </p:nvPicPr>
        <p:blipFill>
          <a:blip r:embed="rId9"/>
          <a:stretch>
            <a:fillRect/>
          </a:stretch>
        </p:blipFill>
        <p:spPr>
          <a:xfrm>
            <a:off x="10626700" y="1436980"/>
            <a:ext cx="372161" cy="372161"/>
          </a:xfrm>
          <a:prstGeom prst="rect">
            <a:avLst/>
          </a:prstGeom>
        </p:spPr>
      </p:pic>
      <p:sp>
        <p:nvSpPr>
          <p:cNvPr id="31" name="Shape 20"/>
          <p:cNvSpPr/>
          <p:nvPr/>
        </p:nvSpPr>
        <p:spPr>
          <a:xfrm>
            <a:off x="10812780" y="1901952"/>
            <a:ext cx="0" cy="320040"/>
          </a:xfrm>
          <a:prstGeom prst="line">
            <a:avLst/>
          </a:prstGeom>
          <a:noFill/>
          <a:ln w="25400">
            <a:solidFill>
              <a:srgbClr val="00D4FF"/>
            </a:solidFill>
            <a:prstDash val="solid"/>
            <a:tailEnd type="triangle"/>
          </a:ln>
        </p:spPr>
      </p:sp>
      <p:sp>
        <p:nvSpPr>
          <p:cNvPr id="32" name="Shape 21"/>
          <p:cNvSpPr/>
          <p:nvPr/>
        </p:nvSpPr>
        <p:spPr>
          <a:xfrm>
            <a:off x="10607040" y="2240280"/>
            <a:ext cx="411480" cy="411480"/>
          </a:xfrm>
          <a:prstGeom prst="ellipse">
            <a:avLst/>
          </a:prstGeom>
          <a:solidFill>
            <a:srgbClr val="00D4FF"/>
          </a:solidFill>
          <a:ln/>
          <a:effectLst>
            <a:outerShdw sx="100000" sy="100000" kx="0" ky="0" algn="bl" rotWithShape="0" blurRad="101600" dist="38100" dir="5400000">
              <a:srgbClr val="0B1E3D">
                <a:alpha val="25000"/>
              </a:srgbClr>
            </a:outerShdw>
          </a:effectLst>
        </p:spPr>
      </p:sp>
      <p:pic>
        <p:nvPicPr>
          <p:cNvPr id="33" name="Image 9" descr="/home/claude/edge_cloud/icon_chip.png">    </p:cNvPr>
          <p:cNvPicPr>
            <a:picLocks noChangeAspect="1"/>
          </p:cNvPicPr>
          <p:nvPr/>
        </p:nvPicPr>
        <p:blipFill>
          <a:blip r:embed="rId10"/>
          <a:stretch>
            <a:fillRect/>
          </a:stretch>
        </p:blipFill>
        <p:spPr>
          <a:xfrm>
            <a:off x="10660532" y="2293772"/>
            <a:ext cx="304495" cy="304495"/>
          </a:xfrm>
          <a:prstGeom prst="rect">
            <a:avLst/>
          </a:prstGeom>
        </p:spPr>
      </p:pic>
      <p:sp>
        <p:nvSpPr>
          <p:cNvPr id="34" name="Text 22"/>
          <p:cNvSpPr/>
          <p:nvPr/>
        </p:nvSpPr>
        <p:spPr>
          <a:xfrm>
            <a:off x="7589520" y="2743200"/>
            <a:ext cx="3749040" cy="320040"/>
          </a:xfrm>
          <a:prstGeom prst="rect">
            <a:avLst/>
          </a:prstGeom>
          <a:noFill/>
          <a:ln/>
        </p:spPr>
        <p:txBody>
          <a:bodyPr wrap="square" rtlCol="0" anchor="ctr"/>
          <a:lstStyle/>
          <a:p>
            <a:pPr algn="ctr" indent="0" marL="0">
              <a:buNone/>
            </a:pPr>
            <a:r>
              <a:rPr lang="en-US" sz="950" i="1" dirty="0">
                <a:solidFill>
                  <a:srgbClr val="00D4FF"/>
                </a:solidFill>
                <a:latin typeface="Calibri" pitchFamily="34" charset="0"/>
                <a:ea typeface="Calibri" pitchFamily="34" charset="-122"/>
                <a:cs typeface="Calibri" pitchFamily="34" charset="-120"/>
              </a:rPr>
              <a:t>Devices  →  Local Edge Nodes (process instantly, &lt;10ms)</a:t>
            </a:r>
            <a:endParaRPr lang="en-US" sz="950" dirty="0"/>
          </a:p>
        </p:txBody>
      </p:sp>
      <p:sp>
        <p:nvSpPr>
          <p:cNvPr id="35" name="Shape 23"/>
          <p:cNvSpPr/>
          <p:nvPr/>
        </p:nvSpPr>
        <p:spPr>
          <a:xfrm>
            <a:off x="9464040" y="3108960"/>
            <a:ext cx="0" cy="411480"/>
          </a:xfrm>
          <a:prstGeom prst="line">
            <a:avLst/>
          </a:prstGeom>
          <a:noFill/>
          <a:ln w="19050">
            <a:solidFill>
              <a:srgbClr val="8FA3C4"/>
            </a:solidFill>
            <a:prstDash val="dash"/>
            <a:tailEnd type="triangle"/>
          </a:ln>
        </p:spPr>
      </p:sp>
      <p:sp>
        <p:nvSpPr>
          <p:cNvPr id="36" name="Shape 24"/>
          <p:cNvSpPr/>
          <p:nvPr/>
        </p:nvSpPr>
        <p:spPr>
          <a:xfrm>
            <a:off x="9098280" y="3566160"/>
            <a:ext cx="731520" cy="731520"/>
          </a:xfrm>
          <a:prstGeom prst="ellipse">
            <a:avLst/>
          </a:prstGeom>
          <a:solidFill>
            <a:srgbClr val="FF8C42"/>
          </a:solidFill>
          <a:ln/>
          <a:effectLst>
            <a:outerShdw sx="100000" sy="100000" kx="0" ky="0" algn="bl" rotWithShape="0" blurRad="101600" dist="38100" dir="5400000">
              <a:srgbClr val="0B1E3D">
                <a:alpha val="25000"/>
              </a:srgbClr>
            </a:outerShdw>
          </a:effectLst>
        </p:spPr>
      </p:sp>
      <p:pic>
        <p:nvPicPr>
          <p:cNvPr id="37" name="Image 10" descr="/home/claude/edge_cloud/icon_cloud.png">    </p:cNvPr>
          <p:cNvPicPr>
            <a:picLocks noChangeAspect="1"/>
          </p:cNvPicPr>
          <p:nvPr/>
        </p:nvPicPr>
        <p:blipFill>
          <a:blip r:embed="rId11"/>
          <a:stretch>
            <a:fillRect/>
          </a:stretch>
        </p:blipFill>
        <p:spPr>
          <a:xfrm>
            <a:off x="9193378" y="3661258"/>
            <a:ext cx="541325" cy="541325"/>
          </a:xfrm>
          <a:prstGeom prst="rect">
            <a:avLst/>
          </a:prstGeom>
        </p:spPr>
      </p:pic>
      <p:sp>
        <p:nvSpPr>
          <p:cNvPr id="38" name="Text 25"/>
          <p:cNvSpPr/>
          <p:nvPr/>
        </p:nvSpPr>
        <p:spPr>
          <a:xfrm>
            <a:off x="7589520" y="4389120"/>
            <a:ext cx="3749040" cy="365760"/>
          </a:xfrm>
          <a:prstGeom prst="rect">
            <a:avLst/>
          </a:prstGeom>
          <a:noFill/>
          <a:ln/>
        </p:spPr>
        <p:txBody>
          <a:bodyPr wrap="square" rtlCol="0" anchor="ctr"/>
          <a:lstStyle/>
          <a:p>
            <a:pPr algn="ctr" indent="0" marL="0">
              <a:buNone/>
            </a:pPr>
            <a:r>
              <a:rPr lang="en-US" sz="950" i="1" dirty="0">
                <a:solidFill>
                  <a:srgbClr val="8FA3C4"/>
                </a:solidFill>
                <a:latin typeface="Calibri" pitchFamily="34" charset="0"/>
                <a:ea typeface="Calibri" pitchFamily="34" charset="-122"/>
                <a:cs typeface="Calibri" pitchFamily="34" charset="-120"/>
              </a:rPr>
              <a:t>Cloud (periodic sync, aggregation, training)</a:t>
            </a:r>
            <a:endParaRPr lang="en-US" sz="950" dirty="0"/>
          </a:p>
        </p:txBody>
      </p:sp>
      <p:sp>
        <p:nvSpPr>
          <p:cNvPr id="39" name="Text 26"/>
          <p:cNvSpPr/>
          <p:nvPr/>
        </p:nvSpPr>
        <p:spPr>
          <a:xfrm>
            <a:off x="7589520" y="5577840"/>
            <a:ext cx="3749040" cy="548640"/>
          </a:xfrm>
          <a:prstGeom prst="rect">
            <a:avLst/>
          </a:prstGeom>
          <a:noFill/>
          <a:ln/>
        </p:spPr>
        <p:txBody>
          <a:bodyPr wrap="square" rtlCol="0" anchor="ctr"/>
          <a:lstStyle/>
          <a:p>
            <a:pPr algn="ctr" indent="0" marL="0">
              <a:buNone/>
            </a:pPr>
            <a:r>
              <a:rPr lang="en-US" sz="950" i="1" dirty="0">
                <a:solidFill>
                  <a:srgbClr val="C9D6EC"/>
                </a:solidFill>
                <a:latin typeface="Calibri" pitchFamily="34" charset="0"/>
                <a:ea typeface="Calibri" pitchFamily="34" charset="-122"/>
                <a:cs typeface="Calibri" pitchFamily="34" charset="-120"/>
              </a:rPr>
              <a:t>Only summarized or exception data travels upstream — most decisions happen locally.</a:t>
            </a:r>
            <a:endParaRPr lang="en-US" sz="950" dirty="0"/>
          </a:p>
        </p:txBody>
      </p:sp>
      <p:sp>
        <p:nvSpPr>
          <p:cNvPr id="40" name="Text 27"/>
          <p:cNvSpPr/>
          <p:nvPr/>
        </p:nvSpPr>
        <p:spPr>
          <a:xfrm>
            <a:off x="457200" y="6537960"/>
            <a:ext cx="5486400" cy="274320"/>
          </a:xfrm>
          <a:prstGeom prst="rect">
            <a:avLst/>
          </a:prstGeom>
          <a:noFill/>
          <a:ln/>
        </p:spPr>
        <p:txBody>
          <a:bodyPr wrap="square" rtlCol="0" anchor="ctr"/>
          <a:lstStyle/>
          <a:p>
            <a:pPr indent="0" marL="0">
              <a:buNone/>
            </a:pPr>
            <a:r>
              <a:rPr lang="en-US" sz="900" i="1" dirty="0">
                <a:solidFill>
                  <a:srgbClr val="5B6B85"/>
                </a:solidFill>
                <a:latin typeface="Calibri" pitchFamily="34" charset="0"/>
                <a:ea typeface="Calibri" pitchFamily="34" charset="-122"/>
                <a:cs typeface="Calibri" pitchFamily="34" charset="-120"/>
              </a:rPr>
              <a:t>Edge vs Cloud Computing</a:t>
            </a:r>
            <a:endParaRPr lang="en-US" sz="900" dirty="0"/>
          </a:p>
        </p:txBody>
      </p:sp>
      <p:sp>
        <p:nvSpPr>
          <p:cNvPr id="41" name="Text 28"/>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E3D"/>
        </a:solidFill>
      </p:bgPr>
    </p:bg>
    <p:spTree>
      <p:nvGrpSpPr>
        <p:cNvPr id="1" name=""/>
        <p:cNvGrpSpPr/>
        <p:nvPr/>
      </p:nvGrpSpPr>
      <p:grpSpPr>
        <a:xfrm>
          <a:off x="0" y="0"/>
          <a:ext cx="0" cy="0"/>
          <a:chOff x="0" y="0"/>
          <a:chExt cx="0" cy="0"/>
        </a:xfrm>
      </p:grpSpPr>
      <p:sp>
        <p:nvSpPr>
          <p:cNvPr id="2" name="Text 0"/>
          <p:cNvSpPr/>
          <p:nvPr/>
        </p:nvSpPr>
        <p:spPr>
          <a:xfrm>
            <a:off x="548640" y="411480"/>
            <a:ext cx="3657600" cy="320040"/>
          </a:xfrm>
          <a:prstGeom prst="rect">
            <a:avLst/>
          </a:prstGeom>
          <a:noFill/>
          <a:ln/>
        </p:spPr>
        <p:txBody>
          <a:bodyPr wrap="square" rtlCol="0" anchor="ctr"/>
          <a:lstStyle/>
          <a:p>
            <a:pPr indent="0" marL="0">
              <a:buNone/>
            </a:pPr>
            <a:r>
              <a:rPr lang="en-US" sz="1200" b="1" spc="200" kern="0" dirty="0">
                <a:solidFill>
                  <a:srgbClr val="00D4FF"/>
                </a:solidFill>
                <a:latin typeface="Calibri" pitchFamily="34" charset="0"/>
                <a:ea typeface="Calibri" pitchFamily="34" charset="-122"/>
                <a:cs typeface="Calibri" pitchFamily="34" charset="-120"/>
              </a:rPr>
              <a:t>ARCHITECTURE · SIDE BY SIDE</a:t>
            </a:r>
            <a:endParaRPr lang="en-US" sz="1200" dirty="0"/>
          </a:p>
        </p:txBody>
      </p:sp>
      <p:sp>
        <p:nvSpPr>
          <p:cNvPr id="3" name="Text 1"/>
          <p:cNvSpPr/>
          <p:nvPr/>
        </p:nvSpPr>
        <p:spPr>
          <a:xfrm>
            <a:off x="548640" y="713232"/>
            <a:ext cx="91440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Centralized vs. Distributed by Design</a:t>
            </a:r>
            <a:endParaRPr lang="en-US" sz="2600" dirty="0"/>
          </a:p>
        </p:txBody>
      </p:sp>
      <p:sp>
        <p:nvSpPr>
          <p:cNvPr id="4" name="Shape 2"/>
          <p:cNvSpPr/>
          <p:nvPr/>
        </p:nvSpPr>
        <p:spPr>
          <a:xfrm>
            <a:off x="548640" y="1463040"/>
            <a:ext cx="5120640" cy="4846320"/>
          </a:xfrm>
          <a:prstGeom prst="roundRect">
            <a:avLst>
              <a:gd name="adj" fmla="val 1887"/>
            </a:avLst>
          </a:prstGeom>
          <a:solidFill>
            <a:srgbClr val="13294B"/>
          </a:solidFill>
          <a:ln/>
        </p:spPr>
      </p:sp>
      <p:sp>
        <p:nvSpPr>
          <p:cNvPr id="5" name="Text 3"/>
          <p:cNvSpPr/>
          <p:nvPr/>
        </p:nvSpPr>
        <p:spPr>
          <a:xfrm>
            <a:off x="822960" y="1645920"/>
            <a:ext cx="4572000" cy="365760"/>
          </a:xfrm>
          <a:prstGeom prst="rect">
            <a:avLst/>
          </a:prstGeom>
          <a:noFill/>
          <a:ln/>
        </p:spPr>
        <p:txBody>
          <a:bodyPr wrap="square" rtlCol="0" anchor="ctr"/>
          <a:lstStyle/>
          <a:p>
            <a:pPr indent="0" marL="0">
              <a:buNone/>
            </a:pPr>
            <a:r>
              <a:rPr lang="en-US" sz="1600" b="1" dirty="0">
                <a:solidFill>
                  <a:srgbClr val="FF8C42"/>
                </a:solidFill>
                <a:latin typeface="Calibri" pitchFamily="34" charset="0"/>
                <a:ea typeface="Calibri" pitchFamily="34" charset="-122"/>
                <a:cs typeface="Calibri" pitchFamily="34" charset="-120"/>
              </a:rPr>
              <a:t>CLOUD</a:t>
            </a:r>
            <a:endParaRPr lang="en-US" sz="1600" dirty="0"/>
          </a:p>
        </p:txBody>
      </p:sp>
      <p:sp>
        <p:nvSpPr>
          <p:cNvPr id="6" name="Text 4"/>
          <p:cNvSpPr/>
          <p:nvPr/>
        </p:nvSpPr>
        <p:spPr>
          <a:xfrm>
            <a:off x="822960" y="1965960"/>
            <a:ext cx="4572000" cy="274320"/>
          </a:xfrm>
          <a:prstGeom prst="rect">
            <a:avLst/>
          </a:prstGeom>
          <a:noFill/>
          <a:ln/>
        </p:spPr>
        <p:txBody>
          <a:bodyPr wrap="square" rtlCol="0" anchor="ctr"/>
          <a:lstStyle/>
          <a:p>
            <a:pPr indent="0" marL="0">
              <a:buNone/>
            </a:pPr>
            <a:r>
              <a:rPr lang="en-US" sz="1050" i="1" dirty="0">
                <a:solidFill>
                  <a:srgbClr val="8FA3C4"/>
                </a:solidFill>
                <a:latin typeface="Calibri" pitchFamily="34" charset="0"/>
                <a:ea typeface="Calibri" pitchFamily="34" charset="-122"/>
                <a:cs typeface="Calibri" pitchFamily="34" charset="-120"/>
              </a:rPr>
              <a:t>One-to-many hub</a:t>
            </a:r>
            <a:endParaRPr lang="en-US" sz="1050" dirty="0"/>
          </a:p>
        </p:txBody>
      </p:sp>
      <p:sp>
        <p:nvSpPr>
          <p:cNvPr id="7" name="Shape 5"/>
          <p:cNvSpPr/>
          <p:nvPr/>
        </p:nvSpPr>
        <p:spPr>
          <a:xfrm>
            <a:off x="6492240" y="1463040"/>
            <a:ext cx="5120640" cy="4846320"/>
          </a:xfrm>
          <a:prstGeom prst="roundRect">
            <a:avLst>
              <a:gd name="adj" fmla="val 1887"/>
            </a:avLst>
          </a:prstGeom>
          <a:solidFill>
            <a:srgbClr val="13294B"/>
          </a:solidFill>
          <a:ln/>
        </p:spPr>
      </p:sp>
      <p:sp>
        <p:nvSpPr>
          <p:cNvPr id="8" name="Text 6"/>
          <p:cNvSpPr/>
          <p:nvPr/>
        </p:nvSpPr>
        <p:spPr>
          <a:xfrm>
            <a:off x="6766560" y="1645920"/>
            <a:ext cx="4572000" cy="365760"/>
          </a:xfrm>
          <a:prstGeom prst="rect">
            <a:avLst/>
          </a:prstGeom>
          <a:noFill/>
          <a:ln/>
        </p:spPr>
        <p:txBody>
          <a:bodyPr wrap="square" rtlCol="0" anchor="ctr"/>
          <a:lstStyle/>
          <a:p>
            <a:pPr indent="0" marL="0">
              <a:buNone/>
            </a:pPr>
            <a:r>
              <a:rPr lang="en-US" sz="1600" b="1" dirty="0">
                <a:solidFill>
                  <a:srgbClr val="00D4FF"/>
                </a:solidFill>
                <a:latin typeface="Calibri" pitchFamily="34" charset="0"/>
                <a:ea typeface="Calibri" pitchFamily="34" charset="-122"/>
                <a:cs typeface="Calibri" pitchFamily="34" charset="-120"/>
              </a:rPr>
              <a:t>EDGE</a:t>
            </a:r>
            <a:endParaRPr lang="en-US" sz="1600" dirty="0"/>
          </a:p>
        </p:txBody>
      </p:sp>
      <p:sp>
        <p:nvSpPr>
          <p:cNvPr id="9" name="Text 7"/>
          <p:cNvSpPr/>
          <p:nvPr/>
        </p:nvSpPr>
        <p:spPr>
          <a:xfrm>
            <a:off x="6766560" y="1965960"/>
            <a:ext cx="4572000" cy="274320"/>
          </a:xfrm>
          <a:prstGeom prst="rect">
            <a:avLst/>
          </a:prstGeom>
          <a:noFill/>
          <a:ln/>
        </p:spPr>
        <p:txBody>
          <a:bodyPr wrap="square" rtlCol="0" anchor="ctr"/>
          <a:lstStyle/>
          <a:p>
            <a:pPr indent="0" marL="0">
              <a:buNone/>
            </a:pPr>
            <a:r>
              <a:rPr lang="en-US" sz="1050" i="1" dirty="0">
                <a:solidFill>
                  <a:srgbClr val="8FA3C4"/>
                </a:solidFill>
                <a:latin typeface="Calibri" pitchFamily="34" charset="0"/>
                <a:ea typeface="Calibri" pitchFamily="34" charset="-122"/>
                <a:cs typeface="Calibri" pitchFamily="34" charset="-120"/>
              </a:rPr>
              <a:t>Many small hubs</a:t>
            </a:r>
            <a:endParaRPr lang="en-US" sz="1050" dirty="0"/>
          </a:p>
        </p:txBody>
      </p:sp>
      <p:sp>
        <p:nvSpPr>
          <p:cNvPr id="10" name="Shape 8"/>
          <p:cNvSpPr/>
          <p:nvPr/>
        </p:nvSpPr>
        <p:spPr>
          <a:xfrm>
            <a:off x="3813048" y="2932997"/>
            <a:ext cx="329184" cy="329184"/>
          </a:xfrm>
          <a:prstGeom prst="ellipse">
            <a:avLst/>
          </a:prstGeom>
          <a:solidFill>
            <a:srgbClr val="24406B"/>
          </a:solidFill>
          <a:ln/>
        </p:spPr>
      </p:sp>
      <p:sp>
        <p:nvSpPr>
          <p:cNvPr id="11" name="Shape 9"/>
          <p:cNvSpPr/>
          <p:nvPr/>
        </p:nvSpPr>
        <p:spPr>
          <a:xfrm>
            <a:off x="3108960" y="3097589"/>
            <a:ext cx="868680" cy="1108651"/>
          </a:xfrm>
          <a:prstGeom prst="line">
            <a:avLst/>
          </a:prstGeom>
          <a:noFill/>
          <a:ln w="12700">
            <a:solidFill>
              <a:srgbClr val="3E5A87"/>
            </a:solidFill>
            <a:prstDash val="solid"/>
          </a:ln>
        </p:spPr>
      </p:sp>
      <p:sp>
        <p:nvSpPr>
          <p:cNvPr id="12" name="Shape 10"/>
          <p:cNvSpPr/>
          <p:nvPr/>
        </p:nvSpPr>
        <p:spPr>
          <a:xfrm>
            <a:off x="4576952" y="3603807"/>
            <a:ext cx="329184" cy="329184"/>
          </a:xfrm>
          <a:prstGeom prst="ellipse">
            <a:avLst/>
          </a:prstGeom>
          <a:solidFill>
            <a:srgbClr val="24406B"/>
          </a:solidFill>
          <a:ln/>
        </p:spPr>
      </p:sp>
      <p:sp>
        <p:nvSpPr>
          <p:cNvPr id="13" name="Shape 11"/>
          <p:cNvSpPr/>
          <p:nvPr/>
        </p:nvSpPr>
        <p:spPr>
          <a:xfrm>
            <a:off x="3108960" y="3768399"/>
            <a:ext cx="1632584" cy="437841"/>
          </a:xfrm>
          <a:prstGeom prst="line">
            <a:avLst/>
          </a:prstGeom>
          <a:noFill/>
          <a:ln w="12700">
            <a:solidFill>
              <a:srgbClr val="3E5A87"/>
            </a:solidFill>
            <a:prstDash val="solid"/>
          </a:ln>
        </p:spPr>
      </p:sp>
      <p:sp>
        <p:nvSpPr>
          <p:cNvPr id="14" name="Shape 12"/>
          <p:cNvSpPr/>
          <p:nvPr/>
        </p:nvSpPr>
        <p:spPr>
          <a:xfrm>
            <a:off x="4576952" y="4479489"/>
            <a:ext cx="329184" cy="329184"/>
          </a:xfrm>
          <a:prstGeom prst="ellipse">
            <a:avLst/>
          </a:prstGeom>
          <a:solidFill>
            <a:srgbClr val="24406B"/>
          </a:solidFill>
          <a:ln/>
        </p:spPr>
      </p:sp>
      <p:sp>
        <p:nvSpPr>
          <p:cNvPr id="15" name="Shape 13"/>
          <p:cNvSpPr/>
          <p:nvPr/>
        </p:nvSpPr>
        <p:spPr>
          <a:xfrm>
            <a:off x="3108960" y="4206240"/>
            <a:ext cx="1632584" cy="437841"/>
          </a:xfrm>
          <a:prstGeom prst="line">
            <a:avLst/>
          </a:prstGeom>
          <a:noFill/>
          <a:ln w="12700">
            <a:solidFill>
              <a:srgbClr val="3E5A87"/>
            </a:solidFill>
            <a:prstDash val="solid"/>
          </a:ln>
        </p:spPr>
      </p:sp>
      <p:sp>
        <p:nvSpPr>
          <p:cNvPr id="16" name="Shape 14"/>
          <p:cNvSpPr/>
          <p:nvPr/>
        </p:nvSpPr>
        <p:spPr>
          <a:xfrm>
            <a:off x="3813048" y="5150299"/>
            <a:ext cx="329184" cy="329184"/>
          </a:xfrm>
          <a:prstGeom prst="ellipse">
            <a:avLst/>
          </a:prstGeom>
          <a:solidFill>
            <a:srgbClr val="24406B"/>
          </a:solidFill>
          <a:ln/>
        </p:spPr>
      </p:sp>
      <p:sp>
        <p:nvSpPr>
          <p:cNvPr id="17" name="Shape 15"/>
          <p:cNvSpPr/>
          <p:nvPr/>
        </p:nvSpPr>
        <p:spPr>
          <a:xfrm>
            <a:off x="3108960" y="4206240"/>
            <a:ext cx="868680" cy="1108651"/>
          </a:xfrm>
          <a:prstGeom prst="line">
            <a:avLst/>
          </a:prstGeom>
          <a:noFill/>
          <a:ln w="12700">
            <a:solidFill>
              <a:srgbClr val="3E5A87"/>
            </a:solidFill>
            <a:prstDash val="solid"/>
          </a:ln>
        </p:spPr>
      </p:sp>
      <p:sp>
        <p:nvSpPr>
          <p:cNvPr id="18" name="Shape 16"/>
          <p:cNvSpPr/>
          <p:nvPr/>
        </p:nvSpPr>
        <p:spPr>
          <a:xfrm>
            <a:off x="2642679" y="5302359"/>
            <a:ext cx="329184" cy="329184"/>
          </a:xfrm>
          <a:prstGeom prst="ellipse">
            <a:avLst/>
          </a:prstGeom>
          <a:solidFill>
            <a:srgbClr val="24406B"/>
          </a:solidFill>
          <a:ln/>
        </p:spPr>
      </p:sp>
      <p:sp>
        <p:nvSpPr>
          <p:cNvPr id="19" name="Shape 17"/>
          <p:cNvSpPr/>
          <p:nvPr/>
        </p:nvSpPr>
        <p:spPr>
          <a:xfrm>
            <a:off x="2807271" y="4206240"/>
            <a:ext cx="301689" cy="1260711"/>
          </a:xfrm>
          <a:prstGeom prst="line">
            <a:avLst/>
          </a:prstGeom>
          <a:noFill/>
          <a:ln w="12700">
            <a:solidFill>
              <a:srgbClr val="3E5A87"/>
            </a:solidFill>
            <a:prstDash val="solid"/>
          </a:ln>
        </p:spPr>
      </p:sp>
      <p:sp>
        <p:nvSpPr>
          <p:cNvPr id="20" name="Shape 18"/>
          <p:cNvSpPr/>
          <p:nvPr/>
        </p:nvSpPr>
        <p:spPr>
          <a:xfrm>
            <a:off x="1613473" y="4864519"/>
            <a:ext cx="329184" cy="329184"/>
          </a:xfrm>
          <a:prstGeom prst="ellipse">
            <a:avLst/>
          </a:prstGeom>
          <a:solidFill>
            <a:srgbClr val="24406B"/>
          </a:solidFill>
          <a:ln/>
        </p:spPr>
      </p:sp>
      <p:sp>
        <p:nvSpPr>
          <p:cNvPr id="21" name="Shape 19"/>
          <p:cNvSpPr/>
          <p:nvPr/>
        </p:nvSpPr>
        <p:spPr>
          <a:xfrm>
            <a:off x="1778065" y="4206240"/>
            <a:ext cx="1330895" cy="822871"/>
          </a:xfrm>
          <a:prstGeom prst="line">
            <a:avLst/>
          </a:prstGeom>
          <a:noFill/>
          <a:ln w="12700">
            <a:solidFill>
              <a:srgbClr val="3E5A87"/>
            </a:solidFill>
            <a:prstDash val="solid"/>
          </a:ln>
        </p:spPr>
      </p:sp>
      <p:sp>
        <p:nvSpPr>
          <p:cNvPr id="22" name="Shape 20"/>
          <p:cNvSpPr/>
          <p:nvPr/>
        </p:nvSpPr>
        <p:spPr>
          <a:xfrm>
            <a:off x="1207008" y="4041648"/>
            <a:ext cx="329184" cy="329184"/>
          </a:xfrm>
          <a:prstGeom prst="ellipse">
            <a:avLst/>
          </a:prstGeom>
          <a:solidFill>
            <a:srgbClr val="24406B"/>
          </a:solidFill>
          <a:ln/>
        </p:spPr>
      </p:sp>
      <p:sp>
        <p:nvSpPr>
          <p:cNvPr id="23" name="Shape 21"/>
          <p:cNvSpPr/>
          <p:nvPr/>
        </p:nvSpPr>
        <p:spPr>
          <a:xfrm>
            <a:off x="1371600" y="4206240"/>
            <a:ext cx="1737360" cy="0"/>
          </a:xfrm>
          <a:prstGeom prst="line">
            <a:avLst/>
          </a:prstGeom>
          <a:noFill/>
          <a:ln w="12700">
            <a:solidFill>
              <a:srgbClr val="3E5A87"/>
            </a:solidFill>
            <a:prstDash val="solid"/>
          </a:ln>
        </p:spPr>
      </p:sp>
      <p:sp>
        <p:nvSpPr>
          <p:cNvPr id="24" name="Shape 22"/>
          <p:cNvSpPr/>
          <p:nvPr/>
        </p:nvSpPr>
        <p:spPr>
          <a:xfrm>
            <a:off x="1613473" y="3218777"/>
            <a:ext cx="329184" cy="329184"/>
          </a:xfrm>
          <a:prstGeom prst="ellipse">
            <a:avLst/>
          </a:prstGeom>
          <a:solidFill>
            <a:srgbClr val="24406B"/>
          </a:solidFill>
          <a:ln/>
        </p:spPr>
      </p:sp>
      <p:sp>
        <p:nvSpPr>
          <p:cNvPr id="25" name="Shape 23"/>
          <p:cNvSpPr/>
          <p:nvPr/>
        </p:nvSpPr>
        <p:spPr>
          <a:xfrm>
            <a:off x="1778065" y="3383369"/>
            <a:ext cx="1330895" cy="822871"/>
          </a:xfrm>
          <a:prstGeom prst="line">
            <a:avLst/>
          </a:prstGeom>
          <a:noFill/>
          <a:ln w="12700">
            <a:solidFill>
              <a:srgbClr val="3E5A87"/>
            </a:solidFill>
            <a:prstDash val="solid"/>
          </a:ln>
        </p:spPr>
      </p:sp>
      <p:sp>
        <p:nvSpPr>
          <p:cNvPr id="26" name="Shape 24"/>
          <p:cNvSpPr/>
          <p:nvPr/>
        </p:nvSpPr>
        <p:spPr>
          <a:xfrm>
            <a:off x="2697480" y="3794760"/>
            <a:ext cx="822960" cy="822960"/>
          </a:xfrm>
          <a:prstGeom prst="ellipse">
            <a:avLst/>
          </a:prstGeom>
          <a:solidFill>
            <a:srgbClr val="FF8C42"/>
          </a:solidFill>
          <a:ln/>
          <a:effectLst>
            <a:outerShdw sx="100000" sy="100000" kx="0" ky="0" algn="bl" rotWithShape="0" blurRad="101600" dist="38100" dir="5400000">
              <a:srgbClr val="0B1E3D">
                <a:alpha val="25000"/>
              </a:srgbClr>
            </a:outerShdw>
          </a:effectLst>
        </p:spPr>
      </p:sp>
      <p:pic>
        <p:nvPicPr>
          <p:cNvPr id="27" name="Image 0" descr="/home/claude/edge_cloud/icon_cloud.png">    </p:cNvPr>
          <p:cNvPicPr>
            <a:picLocks noChangeAspect="1"/>
          </p:cNvPicPr>
          <p:nvPr/>
        </p:nvPicPr>
        <p:blipFill>
          <a:blip r:embed="rId1"/>
          <a:stretch>
            <a:fillRect/>
          </a:stretch>
        </p:blipFill>
        <p:spPr>
          <a:xfrm>
            <a:off x="2804465" y="3901745"/>
            <a:ext cx="608990" cy="608990"/>
          </a:xfrm>
          <a:prstGeom prst="rect">
            <a:avLst/>
          </a:prstGeom>
        </p:spPr>
      </p:pic>
      <p:sp>
        <p:nvSpPr>
          <p:cNvPr id="28" name="Text 25"/>
          <p:cNvSpPr/>
          <p:nvPr/>
        </p:nvSpPr>
        <p:spPr>
          <a:xfrm>
            <a:off x="822960" y="5806440"/>
            <a:ext cx="4572000" cy="320040"/>
          </a:xfrm>
          <a:prstGeom prst="rect">
            <a:avLst/>
          </a:prstGeom>
          <a:noFill/>
          <a:ln/>
        </p:spPr>
        <p:txBody>
          <a:bodyPr wrap="square" rtlCol="0" anchor="ctr"/>
          <a:lstStyle/>
          <a:p>
            <a:pPr algn="ctr" indent="0" marL="0">
              <a:buNone/>
            </a:pPr>
            <a:r>
              <a:rPr lang="en-US" sz="1000" i="1" dirty="0">
                <a:solidFill>
                  <a:srgbClr val="C9D6EC"/>
                </a:solidFill>
                <a:latin typeface="Calibri" pitchFamily="34" charset="0"/>
                <a:ea typeface="Calibri" pitchFamily="34" charset="-122"/>
                <a:cs typeface="Calibri" pitchFamily="34" charset="-120"/>
              </a:rPr>
              <a:t>All roads lead to one data center</a:t>
            </a:r>
            <a:endParaRPr lang="en-US" sz="1000" dirty="0"/>
          </a:p>
        </p:txBody>
      </p:sp>
      <p:sp>
        <p:nvSpPr>
          <p:cNvPr id="29" name="Shape 26"/>
          <p:cNvSpPr/>
          <p:nvPr/>
        </p:nvSpPr>
        <p:spPr>
          <a:xfrm>
            <a:off x="7242048" y="3127248"/>
            <a:ext cx="512064" cy="512064"/>
          </a:xfrm>
          <a:prstGeom prst="ellipse">
            <a:avLst/>
          </a:prstGeom>
          <a:solidFill>
            <a:srgbClr val="00D4FF"/>
          </a:solidFill>
          <a:ln/>
        </p:spPr>
      </p:sp>
      <p:sp>
        <p:nvSpPr>
          <p:cNvPr id="30" name="Shape 27"/>
          <p:cNvSpPr/>
          <p:nvPr/>
        </p:nvSpPr>
        <p:spPr>
          <a:xfrm>
            <a:off x="6867144" y="3575304"/>
            <a:ext cx="256032" cy="256032"/>
          </a:xfrm>
          <a:prstGeom prst="ellipse">
            <a:avLst/>
          </a:prstGeom>
          <a:solidFill>
            <a:srgbClr val="24406B"/>
          </a:solidFill>
          <a:ln/>
        </p:spPr>
      </p:sp>
      <p:sp>
        <p:nvSpPr>
          <p:cNvPr id="31" name="Shape 28"/>
          <p:cNvSpPr/>
          <p:nvPr/>
        </p:nvSpPr>
        <p:spPr>
          <a:xfrm>
            <a:off x="6995160" y="3383280"/>
            <a:ext cx="502920" cy="320040"/>
          </a:xfrm>
          <a:prstGeom prst="line">
            <a:avLst/>
          </a:prstGeom>
          <a:noFill/>
          <a:ln w="12700">
            <a:solidFill>
              <a:srgbClr val="3E5A87"/>
            </a:solidFill>
            <a:prstDash val="solid"/>
          </a:ln>
        </p:spPr>
      </p:sp>
      <p:sp>
        <p:nvSpPr>
          <p:cNvPr id="32" name="Shape 29"/>
          <p:cNvSpPr/>
          <p:nvPr/>
        </p:nvSpPr>
        <p:spPr>
          <a:xfrm>
            <a:off x="7872984" y="3575304"/>
            <a:ext cx="256032" cy="256032"/>
          </a:xfrm>
          <a:prstGeom prst="ellipse">
            <a:avLst/>
          </a:prstGeom>
          <a:solidFill>
            <a:srgbClr val="24406B"/>
          </a:solidFill>
          <a:ln/>
        </p:spPr>
      </p:sp>
      <p:sp>
        <p:nvSpPr>
          <p:cNvPr id="33" name="Shape 30"/>
          <p:cNvSpPr/>
          <p:nvPr/>
        </p:nvSpPr>
        <p:spPr>
          <a:xfrm>
            <a:off x="7498080" y="3383280"/>
            <a:ext cx="502920" cy="320040"/>
          </a:xfrm>
          <a:prstGeom prst="line">
            <a:avLst/>
          </a:prstGeom>
          <a:noFill/>
          <a:ln w="12700">
            <a:solidFill>
              <a:srgbClr val="3E5A87"/>
            </a:solidFill>
            <a:prstDash val="solid"/>
          </a:ln>
        </p:spPr>
      </p:sp>
      <p:sp>
        <p:nvSpPr>
          <p:cNvPr id="34" name="Shape 31"/>
          <p:cNvSpPr/>
          <p:nvPr/>
        </p:nvSpPr>
        <p:spPr>
          <a:xfrm>
            <a:off x="10351008" y="3127248"/>
            <a:ext cx="512064" cy="512064"/>
          </a:xfrm>
          <a:prstGeom prst="ellipse">
            <a:avLst/>
          </a:prstGeom>
          <a:solidFill>
            <a:srgbClr val="00D4FF"/>
          </a:solidFill>
          <a:ln/>
        </p:spPr>
      </p:sp>
      <p:sp>
        <p:nvSpPr>
          <p:cNvPr id="35" name="Shape 32"/>
          <p:cNvSpPr/>
          <p:nvPr/>
        </p:nvSpPr>
        <p:spPr>
          <a:xfrm>
            <a:off x="9976104" y="3575304"/>
            <a:ext cx="256032" cy="256032"/>
          </a:xfrm>
          <a:prstGeom prst="ellipse">
            <a:avLst/>
          </a:prstGeom>
          <a:solidFill>
            <a:srgbClr val="24406B"/>
          </a:solidFill>
          <a:ln/>
        </p:spPr>
      </p:sp>
      <p:sp>
        <p:nvSpPr>
          <p:cNvPr id="36" name="Shape 33"/>
          <p:cNvSpPr/>
          <p:nvPr/>
        </p:nvSpPr>
        <p:spPr>
          <a:xfrm>
            <a:off x="10104120" y="3383280"/>
            <a:ext cx="502920" cy="320040"/>
          </a:xfrm>
          <a:prstGeom prst="line">
            <a:avLst/>
          </a:prstGeom>
          <a:noFill/>
          <a:ln w="12700">
            <a:solidFill>
              <a:srgbClr val="3E5A87"/>
            </a:solidFill>
            <a:prstDash val="solid"/>
          </a:ln>
        </p:spPr>
      </p:sp>
      <p:sp>
        <p:nvSpPr>
          <p:cNvPr id="37" name="Shape 34"/>
          <p:cNvSpPr/>
          <p:nvPr/>
        </p:nvSpPr>
        <p:spPr>
          <a:xfrm>
            <a:off x="10981944" y="3575304"/>
            <a:ext cx="256032" cy="256032"/>
          </a:xfrm>
          <a:prstGeom prst="ellipse">
            <a:avLst/>
          </a:prstGeom>
          <a:solidFill>
            <a:srgbClr val="24406B"/>
          </a:solidFill>
          <a:ln/>
        </p:spPr>
      </p:sp>
      <p:sp>
        <p:nvSpPr>
          <p:cNvPr id="38" name="Shape 35"/>
          <p:cNvSpPr/>
          <p:nvPr/>
        </p:nvSpPr>
        <p:spPr>
          <a:xfrm>
            <a:off x="10607040" y="3383280"/>
            <a:ext cx="502920" cy="320040"/>
          </a:xfrm>
          <a:prstGeom prst="line">
            <a:avLst/>
          </a:prstGeom>
          <a:noFill/>
          <a:ln w="12700">
            <a:solidFill>
              <a:srgbClr val="3E5A87"/>
            </a:solidFill>
            <a:prstDash val="solid"/>
          </a:ln>
        </p:spPr>
      </p:sp>
      <p:sp>
        <p:nvSpPr>
          <p:cNvPr id="39" name="Shape 36"/>
          <p:cNvSpPr/>
          <p:nvPr/>
        </p:nvSpPr>
        <p:spPr>
          <a:xfrm>
            <a:off x="8796528" y="4864608"/>
            <a:ext cx="512064" cy="512064"/>
          </a:xfrm>
          <a:prstGeom prst="ellipse">
            <a:avLst/>
          </a:prstGeom>
          <a:solidFill>
            <a:srgbClr val="00D4FF"/>
          </a:solidFill>
          <a:ln/>
        </p:spPr>
      </p:sp>
      <p:sp>
        <p:nvSpPr>
          <p:cNvPr id="40" name="Shape 37"/>
          <p:cNvSpPr/>
          <p:nvPr/>
        </p:nvSpPr>
        <p:spPr>
          <a:xfrm>
            <a:off x="8421624" y="5312664"/>
            <a:ext cx="256032" cy="256032"/>
          </a:xfrm>
          <a:prstGeom prst="ellipse">
            <a:avLst/>
          </a:prstGeom>
          <a:solidFill>
            <a:srgbClr val="24406B"/>
          </a:solidFill>
          <a:ln/>
        </p:spPr>
      </p:sp>
      <p:sp>
        <p:nvSpPr>
          <p:cNvPr id="41" name="Shape 38"/>
          <p:cNvSpPr/>
          <p:nvPr/>
        </p:nvSpPr>
        <p:spPr>
          <a:xfrm>
            <a:off x="8549640" y="5120640"/>
            <a:ext cx="502920" cy="320040"/>
          </a:xfrm>
          <a:prstGeom prst="line">
            <a:avLst/>
          </a:prstGeom>
          <a:noFill/>
          <a:ln w="12700">
            <a:solidFill>
              <a:srgbClr val="3E5A87"/>
            </a:solidFill>
            <a:prstDash val="solid"/>
          </a:ln>
        </p:spPr>
      </p:sp>
      <p:sp>
        <p:nvSpPr>
          <p:cNvPr id="42" name="Shape 39"/>
          <p:cNvSpPr/>
          <p:nvPr/>
        </p:nvSpPr>
        <p:spPr>
          <a:xfrm>
            <a:off x="9427464" y="5312664"/>
            <a:ext cx="256032" cy="256032"/>
          </a:xfrm>
          <a:prstGeom prst="ellipse">
            <a:avLst/>
          </a:prstGeom>
          <a:solidFill>
            <a:srgbClr val="24406B"/>
          </a:solidFill>
          <a:ln/>
        </p:spPr>
      </p:sp>
      <p:sp>
        <p:nvSpPr>
          <p:cNvPr id="43" name="Shape 40"/>
          <p:cNvSpPr/>
          <p:nvPr/>
        </p:nvSpPr>
        <p:spPr>
          <a:xfrm>
            <a:off x="9052560" y="5120640"/>
            <a:ext cx="502920" cy="320040"/>
          </a:xfrm>
          <a:prstGeom prst="line">
            <a:avLst/>
          </a:prstGeom>
          <a:noFill/>
          <a:ln w="12700">
            <a:solidFill>
              <a:srgbClr val="3E5A87"/>
            </a:solidFill>
            <a:prstDash val="solid"/>
          </a:ln>
        </p:spPr>
      </p:sp>
      <p:sp>
        <p:nvSpPr>
          <p:cNvPr id="44" name="Text 41"/>
          <p:cNvSpPr/>
          <p:nvPr/>
        </p:nvSpPr>
        <p:spPr>
          <a:xfrm>
            <a:off x="6766560" y="5806440"/>
            <a:ext cx="4572000" cy="320040"/>
          </a:xfrm>
          <a:prstGeom prst="rect">
            <a:avLst/>
          </a:prstGeom>
          <a:noFill/>
          <a:ln/>
        </p:spPr>
        <p:txBody>
          <a:bodyPr wrap="square" rtlCol="0" anchor="ctr"/>
          <a:lstStyle/>
          <a:p>
            <a:pPr algn="ctr" indent="0" marL="0">
              <a:buNone/>
            </a:pPr>
            <a:r>
              <a:rPr lang="en-US" sz="1000" i="1" dirty="0">
                <a:solidFill>
                  <a:srgbClr val="C9D6EC"/>
                </a:solidFill>
                <a:latin typeface="Calibri" pitchFamily="34" charset="0"/>
                <a:ea typeface="Calibri" pitchFamily="34" charset="-122"/>
                <a:cs typeface="Calibri" pitchFamily="34" charset="-120"/>
              </a:rPr>
              <a:t>Each local hub serves its own device cluster</a:t>
            </a:r>
            <a:endParaRPr lang="en-US" sz="1000" dirty="0"/>
          </a:p>
        </p:txBody>
      </p:sp>
      <p:sp>
        <p:nvSpPr>
          <p:cNvPr id="45" name="Text 42"/>
          <p:cNvSpPr/>
          <p:nvPr/>
        </p:nvSpPr>
        <p:spPr>
          <a:xfrm>
            <a:off x="457200" y="6537960"/>
            <a:ext cx="5486400" cy="274320"/>
          </a:xfrm>
          <a:prstGeom prst="rect">
            <a:avLst/>
          </a:prstGeom>
          <a:noFill/>
          <a:ln/>
        </p:spPr>
        <p:txBody>
          <a:bodyPr wrap="square" rtlCol="0" anchor="ctr"/>
          <a:lstStyle/>
          <a:p>
            <a:pPr indent="0" marL="0">
              <a:buNone/>
            </a:pPr>
            <a:r>
              <a:rPr lang="en-US" sz="900" i="1" dirty="0">
                <a:solidFill>
                  <a:srgbClr val="8FA3C4"/>
                </a:solidFill>
                <a:latin typeface="Calibri" pitchFamily="34" charset="0"/>
                <a:ea typeface="Calibri" pitchFamily="34" charset="-122"/>
                <a:cs typeface="Calibri" pitchFamily="34" charset="-120"/>
              </a:rPr>
              <a:t>Edge vs Cloud Computing</a:t>
            </a:r>
            <a:endParaRPr lang="en-US" sz="900" dirty="0"/>
          </a:p>
        </p:txBody>
      </p:sp>
      <p:sp>
        <p:nvSpPr>
          <p:cNvPr id="46" name="Text 43"/>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8FA3C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rtlCol="0" anchor="ctr"/>
          <a:lstStyle/>
          <a:p>
            <a:pPr indent="0" marL="0">
              <a:buNone/>
            </a:pPr>
            <a:r>
              <a:rPr lang="en-US" sz="1200" b="1" spc="200" kern="0" dirty="0">
                <a:solidFill>
                  <a:srgbClr val="FF8C42"/>
                </a:solidFill>
                <a:latin typeface="Calibri" pitchFamily="34" charset="0"/>
                <a:ea typeface="Calibri" pitchFamily="34" charset="-122"/>
                <a:cs typeface="Calibri" pitchFamily="34" charset="-120"/>
              </a:rPr>
              <a:t>HEAD-TO-HEAD · COMPARISON</a:t>
            </a:r>
            <a:endParaRPr lang="en-US" sz="1200" dirty="0"/>
          </a:p>
        </p:txBody>
      </p:sp>
      <p:sp>
        <p:nvSpPr>
          <p:cNvPr id="3" name="Text 1"/>
          <p:cNvSpPr/>
          <p:nvPr/>
        </p:nvSpPr>
        <p:spPr>
          <a:xfrm>
            <a:off x="548640" y="822960"/>
            <a:ext cx="82296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Key Differences at a Glance</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4846320"/>
        </p:xfrm>
        <a:graphic>
          <a:graphicData uri="http://schemas.openxmlformats.org/drawingml/2006/table">
            <a:tbl>
              <a:tblPr/>
              <a:tblGrid>
                <a:gridCol w="2103120"/>
                <a:gridCol w="4480560"/>
                <a:gridCol w="4480560"/>
              </a:tblGrid>
              <a:tr h="605790">
                <a:tc>
                  <a:txBody>
                    <a:bodyPr/>
                    <a:lstStyle/>
                    <a:p>
                      <a:pPr algn="l" indent="0" marL="0">
                        <a:buNone/>
                      </a:pPr>
                      <a:r>
                        <a:rPr lang="en-US" sz="1200" b="1" dirty="0">
                          <a:solidFill>
                            <a:srgbClr val="FFFFFF"/>
                          </a:solidFill>
                        </a:rPr>
                        <a:t>Dimension</a:t>
                      </a:r>
                      <a:endParaRPr lang="en-US" sz="120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0B1E3D"/>
                    </a:solidFill>
                  </a:tcPr>
                </a:tc>
                <a:tc>
                  <a:txBody>
                    <a:bodyPr/>
                    <a:lstStyle/>
                    <a:p>
                      <a:pPr algn="l" indent="0" marL="0">
                        <a:buNone/>
                      </a:pPr>
                      <a:r>
                        <a:rPr lang="en-US" sz="1200" b="1" dirty="0">
                          <a:solidFill>
                            <a:srgbClr val="FFFFFF"/>
                          </a:solidFill>
                        </a:rPr>
                        <a:t>Cloud Computing</a:t>
                      </a:r>
                      <a:endParaRPr lang="en-US" sz="120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0B1E3D"/>
                    </a:solidFill>
                  </a:tcPr>
                </a:tc>
                <a:tc>
                  <a:txBody>
                    <a:bodyPr/>
                    <a:lstStyle/>
                    <a:p>
                      <a:pPr algn="l" indent="0" marL="0">
                        <a:buNone/>
                      </a:pPr>
                      <a:r>
                        <a:rPr lang="en-US" sz="1200" b="1" dirty="0">
                          <a:solidFill>
                            <a:srgbClr val="FFFFFF"/>
                          </a:solidFill>
                        </a:rPr>
                        <a:t>Edge Computing</a:t>
                      </a:r>
                      <a:endParaRPr lang="en-US" sz="120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0B1E3D"/>
                    </a:solidFill>
                  </a:tcPr>
                </a:tc>
              </a:tr>
              <a:tr h="605790">
                <a:tc>
                  <a:txBody>
                    <a:bodyPr/>
                    <a:lstStyle/>
                    <a:p>
                      <a:pPr algn="l" indent="0" marL="0">
                        <a:buNone/>
                      </a:pPr>
                      <a:r>
                        <a:rPr lang="en-US" sz="1050" b="1" dirty="0">
                          <a:solidFill>
                            <a:srgbClr val="1B2A4A"/>
                          </a:solidFill>
                        </a:rPr>
                        <a:t>Latency</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EDF2FA"/>
                    </a:solidFill>
                  </a:tcPr>
                </a:tc>
                <a:tc>
                  <a:txBody>
                    <a:bodyPr/>
                    <a:lstStyle/>
                    <a:p>
                      <a:pPr algn="l" indent="0" marL="0">
                        <a:buNone/>
                      </a:pPr>
                      <a:r>
                        <a:rPr lang="en-US" sz="1050" dirty="0">
                          <a:solidFill>
                            <a:srgbClr val="8A5A1E"/>
                          </a:solidFill>
                        </a:rPr>
                        <a:t>50–200 ms typical (network round trip)</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EDF2FA"/>
                    </a:solidFill>
                  </a:tcPr>
                </a:tc>
                <a:tc>
                  <a:txBody>
                    <a:bodyPr/>
                    <a:lstStyle/>
                    <a:p>
                      <a:pPr algn="l" indent="0" marL="0">
                        <a:buNone/>
                      </a:pPr>
                      <a:r>
                        <a:rPr lang="en-US" sz="1050" dirty="0">
                          <a:solidFill>
                            <a:srgbClr val="0A6E7D"/>
                          </a:solidFill>
                        </a:rPr>
                        <a:t>1–10 ms (processed on-site)</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EDF2FA"/>
                    </a:solidFill>
                  </a:tcPr>
                </a:tc>
              </a:tr>
              <a:tr h="605790">
                <a:tc>
                  <a:txBody>
                    <a:bodyPr/>
                    <a:lstStyle/>
                    <a:p>
                      <a:pPr algn="l" indent="0" marL="0">
                        <a:buNone/>
                      </a:pPr>
                      <a:r>
                        <a:rPr lang="en-US" sz="1050" b="1" dirty="0">
                          <a:solidFill>
                            <a:srgbClr val="1B2A4A"/>
                          </a:solidFill>
                        </a:rPr>
                        <a:t>Bandwidth Use</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8A5A1E"/>
                          </a:solidFill>
                        </a:rPr>
                        <a:t>High — raw data streamed continuously</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A6E7D"/>
                          </a:solidFill>
                        </a:rPr>
                        <a:t>Low — only filtered/summarized data sent</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FFFFFF"/>
                    </a:solidFill>
                  </a:tcPr>
                </a:tc>
              </a:tr>
              <a:tr h="605790">
                <a:tc>
                  <a:txBody>
                    <a:bodyPr/>
                    <a:lstStyle/>
                    <a:p>
                      <a:pPr algn="l" indent="0" marL="0">
                        <a:buNone/>
                      </a:pPr>
                      <a:r>
                        <a:rPr lang="en-US" sz="1050" b="1" dirty="0">
                          <a:solidFill>
                            <a:srgbClr val="1B2A4A"/>
                          </a:solidFill>
                        </a:rPr>
                        <a:t>Scalability</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EDF2FA"/>
                    </a:solidFill>
                  </a:tcPr>
                </a:tc>
                <a:tc>
                  <a:txBody>
                    <a:bodyPr/>
                    <a:lstStyle/>
                    <a:p>
                      <a:pPr algn="l" indent="0" marL="0">
                        <a:buNone/>
                      </a:pPr>
                      <a:r>
                        <a:rPr lang="en-US" sz="1050" dirty="0">
                          <a:solidFill>
                            <a:srgbClr val="8A5A1E"/>
                          </a:solidFill>
                        </a:rPr>
                        <a:t>Virtually unlimited, elastic pooled resources</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EDF2FA"/>
                    </a:solidFill>
                  </a:tcPr>
                </a:tc>
                <a:tc>
                  <a:txBody>
                    <a:bodyPr/>
                    <a:lstStyle/>
                    <a:p>
                      <a:pPr algn="l" indent="0" marL="0">
                        <a:buNone/>
                      </a:pPr>
                      <a:r>
                        <a:rPr lang="en-US" sz="1050" dirty="0">
                          <a:solidFill>
                            <a:srgbClr val="0A6E7D"/>
                          </a:solidFill>
                        </a:rPr>
                        <a:t>Scales by adding local nodes; bounded per site</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EDF2FA"/>
                    </a:solidFill>
                  </a:tcPr>
                </a:tc>
              </a:tr>
              <a:tr h="605790">
                <a:tc>
                  <a:txBody>
                    <a:bodyPr/>
                    <a:lstStyle/>
                    <a:p>
                      <a:pPr algn="l" indent="0" marL="0">
                        <a:buNone/>
                      </a:pPr>
                      <a:r>
                        <a:rPr lang="en-US" sz="1050" b="1" dirty="0">
                          <a:solidFill>
                            <a:srgbClr val="1B2A4A"/>
                          </a:solidFill>
                        </a:rPr>
                        <a:t>Data Privacy</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8A5A1E"/>
                          </a:solidFill>
                        </a:rPr>
                        <a:t>Data leaves premises; governed by provider policies</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A6E7D"/>
                          </a:solidFill>
                        </a:rPr>
                        <a:t>Data can stay local, easing compliance</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FFFFFF"/>
                    </a:solidFill>
                  </a:tcPr>
                </a:tc>
              </a:tr>
              <a:tr h="605790">
                <a:tc>
                  <a:txBody>
                    <a:bodyPr/>
                    <a:lstStyle/>
                    <a:p>
                      <a:pPr algn="l" indent="0" marL="0">
                        <a:buNone/>
                      </a:pPr>
                      <a:r>
                        <a:rPr lang="en-US" sz="1050" b="1" dirty="0">
                          <a:solidFill>
                            <a:srgbClr val="1B2A4A"/>
                          </a:solidFill>
                        </a:rPr>
                        <a:t>Reliability Offline</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EDF2FA"/>
                    </a:solidFill>
                  </a:tcPr>
                </a:tc>
                <a:tc>
                  <a:txBody>
                    <a:bodyPr/>
                    <a:lstStyle/>
                    <a:p>
                      <a:pPr algn="l" indent="0" marL="0">
                        <a:buNone/>
                      </a:pPr>
                      <a:r>
                        <a:rPr lang="en-US" sz="1050" dirty="0">
                          <a:solidFill>
                            <a:srgbClr val="8A5A1E"/>
                          </a:solidFill>
                        </a:rPr>
                        <a:t>Requires stable connectivity</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EDF2FA"/>
                    </a:solidFill>
                  </a:tcPr>
                </a:tc>
                <a:tc>
                  <a:txBody>
                    <a:bodyPr/>
                    <a:lstStyle/>
                    <a:p>
                      <a:pPr algn="l" indent="0" marL="0">
                        <a:buNone/>
                      </a:pPr>
                      <a:r>
                        <a:rPr lang="en-US" sz="1050" dirty="0">
                          <a:solidFill>
                            <a:srgbClr val="0A6E7D"/>
                          </a:solidFill>
                        </a:rPr>
                        <a:t>Keeps operating during outages</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EDF2FA"/>
                    </a:solidFill>
                  </a:tcPr>
                </a:tc>
              </a:tr>
              <a:tr h="605790">
                <a:tc>
                  <a:txBody>
                    <a:bodyPr/>
                    <a:lstStyle/>
                    <a:p>
                      <a:pPr algn="l" indent="0" marL="0">
                        <a:buNone/>
                      </a:pPr>
                      <a:r>
                        <a:rPr lang="en-US" sz="1050" b="1" dirty="0">
                          <a:solidFill>
                            <a:srgbClr val="1B2A4A"/>
                          </a:solidFill>
                        </a:rPr>
                        <a:t>Upfront Cost</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8A5A1E"/>
                          </a:solidFill>
                        </a:rPr>
                        <a:t>Low capex, ongoing opex (subscription)</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A6E7D"/>
                          </a:solidFill>
                        </a:rPr>
                        <a:t>Higher hardware capex at each site</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FFFFFF"/>
                    </a:solidFill>
                  </a:tcPr>
                </a:tc>
              </a:tr>
              <a:tr h="605790">
                <a:tc>
                  <a:txBody>
                    <a:bodyPr/>
                    <a:lstStyle/>
                    <a:p>
                      <a:pPr algn="l" indent="0" marL="0">
                        <a:buNone/>
                      </a:pPr>
                      <a:r>
                        <a:rPr lang="en-US" sz="1050" b="1" dirty="0">
                          <a:solidFill>
                            <a:srgbClr val="1B2A4A"/>
                          </a:solidFill>
                        </a:rPr>
                        <a:t>Best For</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EDF2FA"/>
                    </a:solidFill>
                  </a:tcPr>
                </a:tc>
                <a:tc>
                  <a:txBody>
                    <a:bodyPr/>
                    <a:lstStyle/>
                    <a:p>
                      <a:pPr algn="l" indent="0" marL="0">
                        <a:buNone/>
                      </a:pPr>
                      <a:r>
                        <a:rPr lang="en-US" sz="1050" dirty="0">
                          <a:solidFill>
                            <a:srgbClr val="8A5A1E"/>
                          </a:solidFill>
                        </a:rPr>
                        <a:t>Big-data analytics, AI training, storage</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EDF2FA"/>
                    </a:solidFill>
                  </a:tcPr>
                </a:tc>
                <a:tc>
                  <a:txBody>
                    <a:bodyPr/>
                    <a:lstStyle/>
                    <a:p>
                      <a:pPr algn="l" indent="0" marL="0">
                        <a:buNone/>
                      </a:pPr>
                      <a:r>
                        <a:rPr lang="en-US" sz="1050" dirty="0">
                          <a:solidFill>
                            <a:srgbClr val="0A6E7D"/>
                          </a:solidFill>
                        </a:rPr>
                        <a:t>Real-time control, sensing, local inference</a:t>
                      </a:r>
                      <a:endParaRPr lang="en-US" sz="1050" dirty="0"/>
                    </a:p>
                  </a:txBody>
                  <a:tcPr marL="91440" marR="91440" marT="45720" marB="45720" anchor="ctr">
                    <a:lnL w="6350" cap="flat" cmpd="sng" algn="ctr">
                      <a:solidFill>
                        <a:srgbClr val="DCE4F0"/>
                      </a:solidFill>
                      <a:prstDash val="solid"/>
                      <a:round/>
                      <a:headEnd type="none" w="med" len="med"/>
                      <a:tailEnd type="none" w="med" len="med"/>
                    </a:lnL>
                    <a:lnR w="6350" cap="flat" cmpd="sng" algn="ctr">
                      <a:solidFill>
                        <a:srgbClr val="DCE4F0"/>
                      </a:solidFill>
                      <a:prstDash val="solid"/>
                      <a:round/>
                      <a:headEnd type="none" w="med" len="med"/>
                      <a:tailEnd type="none" w="med" len="med"/>
                    </a:lnR>
                    <a:lnT w="6350" cap="flat" cmpd="sng" algn="ctr">
                      <a:solidFill>
                        <a:srgbClr val="DCE4F0"/>
                      </a:solidFill>
                      <a:prstDash val="solid"/>
                      <a:round/>
                      <a:headEnd type="none" w="med" len="med"/>
                      <a:tailEnd type="none" w="med" len="med"/>
                    </a:lnT>
                    <a:lnB w="6350" cap="flat" cmpd="sng" algn="ctr">
                      <a:solidFill>
                        <a:srgbClr val="DCE4F0"/>
                      </a:solidFill>
                      <a:prstDash val="solid"/>
                      <a:round/>
                      <a:headEnd type="none" w="med" len="med"/>
                      <a:tailEnd type="none" w="med" len="med"/>
                    </a:lnB>
                    <a:solidFill>
                      <a:srgbClr val="EDF2FA"/>
                    </a:solidFill>
                  </a:tcPr>
                </a:tc>
              </a:tr>
            </a:tbl>
          </a:graphicData>
        </a:graphic>
      </p:graphicFrame>
      <p:sp>
        <p:nvSpPr>
          <p:cNvPr id="5" name="Text 2"/>
          <p:cNvSpPr/>
          <p:nvPr/>
        </p:nvSpPr>
        <p:spPr>
          <a:xfrm>
            <a:off x="457200" y="6537960"/>
            <a:ext cx="5486400" cy="274320"/>
          </a:xfrm>
          <a:prstGeom prst="rect">
            <a:avLst/>
          </a:prstGeom>
          <a:noFill/>
          <a:ln/>
        </p:spPr>
        <p:txBody>
          <a:bodyPr wrap="square" rtlCol="0" anchor="ctr"/>
          <a:lstStyle/>
          <a:p>
            <a:pPr indent="0" marL="0">
              <a:buNone/>
            </a:pPr>
            <a:r>
              <a:rPr lang="en-US" sz="900" i="1" dirty="0">
                <a:solidFill>
                  <a:srgbClr val="5B6B85"/>
                </a:solidFill>
                <a:latin typeface="Calibri" pitchFamily="34" charset="0"/>
                <a:ea typeface="Calibri" pitchFamily="34" charset="-122"/>
                <a:cs typeface="Calibri" pitchFamily="34" charset="-120"/>
              </a:rPr>
              <a:t>Edge vs Cloud Computing</a:t>
            </a:r>
            <a:endParaRPr lang="en-US" sz="900" dirty="0"/>
          </a:p>
        </p:txBody>
      </p:sp>
      <p:sp>
        <p:nvSpPr>
          <p:cNvPr id="6" name="Text 3"/>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137160"/>
            <a:ext cx="3657600" cy="320040"/>
          </a:xfrm>
          <a:prstGeom prst="rect">
            <a:avLst/>
          </a:prstGeom>
          <a:noFill/>
          <a:ln/>
        </p:spPr>
        <p:txBody>
          <a:bodyPr wrap="square" rtlCol="0" anchor="ctr"/>
          <a:lstStyle/>
          <a:p>
            <a:pPr indent="0" marL="0">
              <a:buNone/>
            </a:pPr>
            <a:r>
              <a:rPr lang="en-US" sz="1200" b="1" spc="200" kern="0" dirty="0">
                <a:solidFill>
                  <a:srgbClr val="FF8C42"/>
                </a:solidFill>
                <a:latin typeface="Calibri" pitchFamily="34" charset="0"/>
                <a:ea typeface="Calibri" pitchFamily="34" charset="-122"/>
                <a:cs typeface="Calibri" pitchFamily="34" charset="-120"/>
              </a:rPr>
              <a:t>HEAD-TO-HEAD · DATA</a:t>
            </a:r>
            <a:endParaRPr lang="en-US" sz="1200" dirty="0"/>
          </a:p>
        </p:txBody>
      </p:sp>
      <p:sp>
        <p:nvSpPr>
          <p:cNvPr id="3" name="Text 1"/>
          <p:cNvSpPr/>
          <p:nvPr/>
        </p:nvSpPr>
        <p:spPr>
          <a:xfrm>
            <a:off x="548640" y="457200"/>
            <a:ext cx="82296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Latency by Processing Location</a:t>
            </a:r>
            <a:endParaRPr lang="en-US" sz="2800" dirty="0"/>
          </a:p>
        </p:txBody>
      </p:sp>
      <p:sp>
        <p:nvSpPr>
          <p:cNvPr id="4" name="Text 2"/>
          <p:cNvSpPr/>
          <p:nvPr/>
        </p:nvSpPr>
        <p:spPr>
          <a:xfrm>
            <a:off x="548640" y="960120"/>
            <a:ext cx="9144000" cy="365760"/>
          </a:xfrm>
          <a:prstGeom prst="rect">
            <a:avLst/>
          </a:prstGeom>
          <a:noFill/>
          <a:ln/>
        </p:spPr>
        <p:txBody>
          <a:bodyPr wrap="square" rtlCol="0" anchor="ctr"/>
          <a:lstStyle/>
          <a:p>
            <a:pPr indent="0" marL="0">
              <a:buNone/>
            </a:pPr>
            <a:r>
              <a:rPr lang="en-US" sz="1150" i="1" dirty="0">
                <a:solidFill>
                  <a:srgbClr val="5B6B85"/>
                </a:solidFill>
                <a:latin typeface="Calibri" pitchFamily="34" charset="0"/>
                <a:ea typeface="Calibri" pitchFamily="34" charset="-122"/>
                <a:cs typeface="Calibri" pitchFamily="34" charset="-120"/>
              </a:rPr>
              <a:t>Approximate round-trip response times for a typical IoT sensor event, illustrative figures</a:t>
            </a:r>
            <a:endParaRPr lang="en-US" sz="1150" dirty="0"/>
          </a:p>
        </p:txBody>
      </p:sp>
      <p:graphicFrame>
        <p:nvGraphicFramePr>
          <p:cNvPr id="5" name="Chart 0" descr=""/>
          <p:cNvGraphicFramePr/>
          <p:nvPr/>
        </p:nvGraphicFramePr>
        <p:xfrm>
          <a:off x="548640" y="1554480"/>
          <a:ext cx="6675120" cy="45720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98080" y="1737360"/>
            <a:ext cx="4114800" cy="1920240"/>
          </a:xfrm>
          <a:prstGeom prst="roundRect">
            <a:avLst>
              <a:gd name="adj" fmla="val 3810"/>
            </a:avLst>
          </a:prstGeom>
          <a:solidFill>
            <a:srgbClr val="FFFFFF"/>
          </a:solidFill>
          <a:ln w="12700">
            <a:solidFill>
              <a:srgbClr val="E3E9F2"/>
            </a:solidFill>
            <a:prstDash val="solid"/>
          </a:ln>
          <a:effectLst>
            <a:outerShdw sx="100000" sy="100000" kx="0" ky="0" algn="bl" rotWithShape="0" blurRad="101600" dist="38100" dir="5400000">
              <a:srgbClr val="0B1E3D">
                <a:alpha val="12000"/>
              </a:srgbClr>
            </a:outerShdw>
          </a:effectLst>
        </p:spPr>
      </p:sp>
      <p:sp>
        <p:nvSpPr>
          <p:cNvPr id="7" name="Shape 4"/>
          <p:cNvSpPr/>
          <p:nvPr/>
        </p:nvSpPr>
        <p:spPr>
          <a:xfrm>
            <a:off x="7726680" y="1965960"/>
            <a:ext cx="109728" cy="109728"/>
          </a:xfrm>
          <a:prstGeom prst="ellipse">
            <a:avLst/>
          </a:prstGeom>
          <a:solidFill>
            <a:srgbClr val="00D4FF"/>
          </a:solidFill>
          <a:ln/>
        </p:spPr>
      </p:sp>
      <p:sp>
        <p:nvSpPr>
          <p:cNvPr id="8" name="Text 5"/>
          <p:cNvSpPr/>
          <p:nvPr/>
        </p:nvSpPr>
        <p:spPr>
          <a:xfrm>
            <a:off x="7955280" y="1874520"/>
            <a:ext cx="3474720" cy="320040"/>
          </a:xfrm>
          <a:prstGeom prst="rect">
            <a:avLst/>
          </a:prstGeom>
          <a:noFill/>
          <a:ln/>
        </p:spPr>
        <p:txBody>
          <a:bodyPr wrap="square"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Edge wins</a:t>
            </a:r>
            <a:endParaRPr lang="en-US" sz="1400" dirty="0"/>
          </a:p>
        </p:txBody>
      </p:sp>
      <p:sp>
        <p:nvSpPr>
          <p:cNvPr id="9" name="Text 6"/>
          <p:cNvSpPr/>
          <p:nvPr/>
        </p:nvSpPr>
        <p:spPr>
          <a:xfrm>
            <a:off x="7726680" y="2286000"/>
            <a:ext cx="3657600" cy="1234440"/>
          </a:xfrm>
          <a:prstGeom prst="rect">
            <a:avLst/>
          </a:prstGeom>
          <a:noFill/>
          <a:ln/>
        </p:spPr>
        <p:txBody>
          <a:bodyPr wrap="square" rtlCol="0" anchor="ctr"/>
          <a:lstStyle/>
          <a:p>
            <a:pPr indent="0" marL="0">
              <a:lnSpc>
                <a:spcPct val="125000"/>
              </a:lnSpc>
              <a:buNone/>
            </a:pPr>
            <a:r>
              <a:rPr lang="en-US" sz="1100" dirty="0">
                <a:solidFill>
                  <a:srgbClr val="5B6B85"/>
                </a:solidFill>
                <a:latin typeface="Calibri" pitchFamily="34" charset="0"/>
                <a:ea typeface="Calibri" pitchFamily="34" charset="-122"/>
                <a:cs typeface="Calibri" pitchFamily="34" charset="-120"/>
              </a:rPr>
              <a:t>For autonomous braking, robotic control, and AR — milliseconds matter and the cloud round-trip is too slow.</a:t>
            </a:r>
            <a:endParaRPr lang="en-US" sz="1100" dirty="0"/>
          </a:p>
        </p:txBody>
      </p:sp>
      <p:sp>
        <p:nvSpPr>
          <p:cNvPr id="10" name="Shape 7"/>
          <p:cNvSpPr/>
          <p:nvPr/>
        </p:nvSpPr>
        <p:spPr>
          <a:xfrm>
            <a:off x="7498080" y="3886200"/>
            <a:ext cx="4114800" cy="1920240"/>
          </a:xfrm>
          <a:prstGeom prst="roundRect">
            <a:avLst>
              <a:gd name="adj" fmla="val 3810"/>
            </a:avLst>
          </a:prstGeom>
          <a:solidFill>
            <a:srgbClr val="FFFFFF"/>
          </a:solidFill>
          <a:ln w="12700">
            <a:solidFill>
              <a:srgbClr val="E3E9F2"/>
            </a:solidFill>
            <a:prstDash val="solid"/>
          </a:ln>
          <a:effectLst>
            <a:outerShdw sx="100000" sy="100000" kx="0" ky="0" algn="bl" rotWithShape="0" blurRad="101600" dist="38100" dir="5400000">
              <a:srgbClr val="0B1E3D">
                <a:alpha val="12000"/>
              </a:srgbClr>
            </a:outerShdw>
          </a:effectLst>
        </p:spPr>
      </p:sp>
      <p:sp>
        <p:nvSpPr>
          <p:cNvPr id="11" name="Shape 8"/>
          <p:cNvSpPr/>
          <p:nvPr/>
        </p:nvSpPr>
        <p:spPr>
          <a:xfrm>
            <a:off x="7726680" y="4114800"/>
            <a:ext cx="109728" cy="109728"/>
          </a:xfrm>
          <a:prstGeom prst="ellipse">
            <a:avLst/>
          </a:prstGeom>
          <a:solidFill>
            <a:srgbClr val="FF8C42"/>
          </a:solidFill>
          <a:ln/>
        </p:spPr>
      </p:sp>
      <p:sp>
        <p:nvSpPr>
          <p:cNvPr id="12" name="Text 9"/>
          <p:cNvSpPr/>
          <p:nvPr/>
        </p:nvSpPr>
        <p:spPr>
          <a:xfrm>
            <a:off x="7955280" y="4023360"/>
            <a:ext cx="3474720" cy="320040"/>
          </a:xfrm>
          <a:prstGeom prst="rect">
            <a:avLst/>
          </a:prstGeom>
          <a:noFill/>
          <a:ln/>
        </p:spPr>
        <p:txBody>
          <a:bodyPr wrap="square"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Cloud wins</a:t>
            </a:r>
            <a:endParaRPr lang="en-US" sz="1400" dirty="0"/>
          </a:p>
        </p:txBody>
      </p:sp>
      <p:sp>
        <p:nvSpPr>
          <p:cNvPr id="13" name="Text 10"/>
          <p:cNvSpPr/>
          <p:nvPr/>
        </p:nvSpPr>
        <p:spPr>
          <a:xfrm>
            <a:off x="7726680" y="4434840"/>
            <a:ext cx="3657600" cy="1234440"/>
          </a:xfrm>
          <a:prstGeom prst="rect">
            <a:avLst/>
          </a:prstGeom>
          <a:noFill/>
          <a:ln/>
        </p:spPr>
        <p:txBody>
          <a:bodyPr wrap="square" rtlCol="0" anchor="ctr"/>
          <a:lstStyle/>
          <a:p>
            <a:pPr indent="0" marL="0">
              <a:lnSpc>
                <a:spcPct val="125000"/>
              </a:lnSpc>
              <a:buNone/>
            </a:pPr>
            <a:r>
              <a:rPr lang="en-US" sz="1100" dirty="0">
                <a:solidFill>
                  <a:srgbClr val="5B6B85"/>
                </a:solidFill>
                <a:latin typeface="Calibri" pitchFamily="34" charset="0"/>
                <a:ea typeface="Calibri" pitchFamily="34" charset="-122"/>
                <a:cs typeface="Calibri" pitchFamily="34" charset="-120"/>
              </a:rPr>
              <a:t>For training large models, storing years of history, and running batch analytics across regions.</a:t>
            </a:r>
            <a:endParaRPr lang="en-US" sz="1100" dirty="0"/>
          </a:p>
        </p:txBody>
      </p:sp>
      <p:sp>
        <p:nvSpPr>
          <p:cNvPr id="14" name="Text 11"/>
          <p:cNvSpPr/>
          <p:nvPr/>
        </p:nvSpPr>
        <p:spPr>
          <a:xfrm>
            <a:off x="457200" y="6537960"/>
            <a:ext cx="5486400" cy="274320"/>
          </a:xfrm>
          <a:prstGeom prst="rect">
            <a:avLst/>
          </a:prstGeom>
          <a:noFill/>
          <a:ln/>
        </p:spPr>
        <p:txBody>
          <a:bodyPr wrap="square" rtlCol="0" anchor="ctr"/>
          <a:lstStyle/>
          <a:p>
            <a:pPr indent="0" marL="0">
              <a:buNone/>
            </a:pPr>
            <a:r>
              <a:rPr lang="en-US" sz="900" i="1" dirty="0">
                <a:solidFill>
                  <a:srgbClr val="5B6B85"/>
                </a:solidFill>
                <a:latin typeface="Calibri" pitchFamily="34" charset="0"/>
                <a:ea typeface="Calibri" pitchFamily="34" charset="-122"/>
                <a:cs typeface="Calibri" pitchFamily="34" charset="-120"/>
              </a:rPr>
              <a:t>Edge vs Cloud Computing</a:t>
            </a:r>
            <a:endParaRPr lang="en-US" sz="900" dirty="0"/>
          </a:p>
        </p:txBody>
      </p:sp>
      <p:sp>
        <p:nvSpPr>
          <p:cNvPr id="15" name="Text 12"/>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indent="0" marL="0">
              <a:buNone/>
            </a:pPr>
            <a:r>
              <a:rPr lang="en-US" sz="1200" b="1" spc="200" kern="0" dirty="0">
                <a:solidFill>
                  <a:srgbClr val="FF8C42"/>
                </a:solidFill>
                <a:latin typeface="Calibri" pitchFamily="34" charset="0"/>
                <a:ea typeface="Calibri" pitchFamily="34" charset="-122"/>
                <a:cs typeface="Calibri" pitchFamily="34" charset="-120"/>
              </a:rPr>
              <a:t>CLOUD COMPUTING</a:t>
            </a:r>
            <a:endParaRPr lang="en-US" sz="1200" dirty="0"/>
          </a:p>
        </p:txBody>
      </p:sp>
      <p:sp>
        <p:nvSpPr>
          <p:cNvPr id="3" name="Text 1"/>
          <p:cNvSpPr/>
          <p:nvPr/>
        </p:nvSpPr>
        <p:spPr>
          <a:xfrm>
            <a:off x="548640" y="749808"/>
            <a:ext cx="82296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Where the Cloud Excels</a:t>
            </a:r>
            <a:endParaRPr lang="en-US" sz="2800" dirty="0"/>
          </a:p>
        </p:txBody>
      </p:sp>
      <p:sp>
        <p:nvSpPr>
          <p:cNvPr id="4" name="Shape 2"/>
          <p:cNvSpPr/>
          <p:nvPr/>
        </p:nvSpPr>
        <p:spPr>
          <a:xfrm>
            <a:off x="548640" y="1508760"/>
            <a:ext cx="3566160" cy="2331720"/>
          </a:xfrm>
          <a:prstGeom prst="roundRect">
            <a:avLst>
              <a:gd name="adj" fmla="val 3137"/>
            </a:avLst>
          </a:prstGeom>
          <a:solidFill>
            <a:srgbClr val="FFFFFF"/>
          </a:solidFill>
          <a:ln w="12700">
            <a:solidFill>
              <a:srgbClr val="E3E9F2"/>
            </a:solidFill>
            <a:prstDash val="solid"/>
          </a:ln>
          <a:effectLst>
            <a:outerShdw sx="100000" sy="100000" kx="0" ky="0" algn="bl" rotWithShape="0" blurRad="101600" dist="38100" dir="5400000">
              <a:srgbClr val="0B1E3D">
                <a:alpha val="10000"/>
              </a:srgbClr>
            </a:outerShdw>
          </a:effectLst>
        </p:spPr>
      </p:sp>
      <p:sp>
        <p:nvSpPr>
          <p:cNvPr id="5" name="Shape 3"/>
          <p:cNvSpPr/>
          <p:nvPr/>
        </p:nvSpPr>
        <p:spPr>
          <a:xfrm>
            <a:off x="777240" y="1737360"/>
            <a:ext cx="502920" cy="502920"/>
          </a:xfrm>
          <a:prstGeom prst="ellipse">
            <a:avLst/>
          </a:prstGeom>
          <a:solidFill>
            <a:srgbClr val="0B1E3D"/>
          </a:solidFill>
          <a:ln/>
          <a:effectLst>
            <a:outerShdw sx="100000" sy="100000" kx="0" ky="0" algn="bl" rotWithShape="0" blurRad="101600" dist="38100" dir="5400000">
              <a:srgbClr val="0B1E3D">
                <a:alpha val="25000"/>
              </a:srgbClr>
            </a:outerShdw>
          </a:effectLst>
        </p:spPr>
      </p:sp>
      <p:pic>
        <p:nvPicPr>
          <p:cNvPr id="6" name="Image 0" descr="/home/claude/edge_cloud/icon_database.png">    </p:cNvPr>
          <p:cNvPicPr>
            <a:picLocks noChangeAspect="1"/>
          </p:cNvPicPr>
          <p:nvPr/>
        </p:nvPicPr>
        <p:blipFill>
          <a:blip r:embed="rId1"/>
          <a:stretch>
            <a:fillRect/>
          </a:stretch>
        </p:blipFill>
        <p:spPr>
          <a:xfrm>
            <a:off x="842620" y="1802740"/>
            <a:ext cx="372161" cy="372161"/>
          </a:xfrm>
          <a:prstGeom prst="rect">
            <a:avLst/>
          </a:prstGeom>
        </p:spPr>
      </p:pic>
      <p:sp>
        <p:nvSpPr>
          <p:cNvPr id="7" name="Text 4"/>
          <p:cNvSpPr/>
          <p:nvPr/>
        </p:nvSpPr>
        <p:spPr>
          <a:xfrm>
            <a:off x="777240" y="2377440"/>
            <a:ext cx="3108960" cy="41148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Big Data &amp; Analytics</a:t>
            </a:r>
            <a:endParaRPr lang="en-US" sz="1300" dirty="0"/>
          </a:p>
        </p:txBody>
      </p:sp>
      <p:sp>
        <p:nvSpPr>
          <p:cNvPr id="8" name="Text 5"/>
          <p:cNvSpPr/>
          <p:nvPr/>
        </p:nvSpPr>
        <p:spPr>
          <a:xfrm>
            <a:off x="777240" y="2788920"/>
            <a:ext cx="3108960" cy="96012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Warehousing and mining petabytes of historical data for BI and forecasting.</a:t>
            </a:r>
            <a:endParaRPr lang="en-US" sz="1000" dirty="0"/>
          </a:p>
        </p:txBody>
      </p:sp>
      <p:sp>
        <p:nvSpPr>
          <p:cNvPr id="9" name="Shape 6"/>
          <p:cNvSpPr/>
          <p:nvPr/>
        </p:nvSpPr>
        <p:spPr>
          <a:xfrm>
            <a:off x="4343400" y="1508760"/>
            <a:ext cx="3566160" cy="2331720"/>
          </a:xfrm>
          <a:prstGeom prst="roundRect">
            <a:avLst>
              <a:gd name="adj" fmla="val 3137"/>
            </a:avLst>
          </a:prstGeom>
          <a:solidFill>
            <a:srgbClr val="FFFFFF"/>
          </a:solidFill>
          <a:ln w="12700">
            <a:solidFill>
              <a:srgbClr val="E3E9F2"/>
            </a:solidFill>
            <a:prstDash val="solid"/>
          </a:ln>
          <a:effectLst>
            <a:outerShdw sx="100000" sy="100000" kx="0" ky="0" algn="bl" rotWithShape="0" blurRad="101600" dist="38100" dir="5400000">
              <a:srgbClr val="0B1E3D">
                <a:alpha val="10000"/>
              </a:srgbClr>
            </a:outerShdw>
          </a:effectLst>
        </p:spPr>
      </p:sp>
      <p:sp>
        <p:nvSpPr>
          <p:cNvPr id="10" name="Shape 7"/>
          <p:cNvSpPr/>
          <p:nvPr/>
        </p:nvSpPr>
        <p:spPr>
          <a:xfrm>
            <a:off x="4572000" y="1737360"/>
            <a:ext cx="502920" cy="502920"/>
          </a:xfrm>
          <a:prstGeom prst="ellipse">
            <a:avLst/>
          </a:prstGeom>
          <a:solidFill>
            <a:srgbClr val="0B1E3D"/>
          </a:solidFill>
          <a:ln/>
          <a:effectLst>
            <a:outerShdw sx="100000" sy="100000" kx="0" ky="0" algn="bl" rotWithShape="0" blurRad="101600" dist="38100" dir="5400000">
              <a:srgbClr val="0B1E3D">
                <a:alpha val="25000"/>
              </a:srgbClr>
            </a:outerShdw>
          </a:effectLst>
        </p:spPr>
      </p:sp>
      <p:pic>
        <p:nvPicPr>
          <p:cNvPr id="11" name="Image 1" descr="/home/claude/edge_cloud/icon_chip.png">    </p:cNvPr>
          <p:cNvPicPr>
            <a:picLocks noChangeAspect="1"/>
          </p:cNvPicPr>
          <p:nvPr/>
        </p:nvPicPr>
        <p:blipFill>
          <a:blip r:embed="rId2"/>
          <a:stretch>
            <a:fillRect/>
          </a:stretch>
        </p:blipFill>
        <p:spPr>
          <a:xfrm>
            <a:off x="4637380" y="1802740"/>
            <a:ext cx="372161" cy="372161"/>
          </a:xfrm>
          <a:prstGeom prst="rect">
            <a:avLst/>
          </a:prstGeom>
        </p:spPr>
      </p:pic>
      <p:sp>
        <p:nvSpPr>
          <p:cNvPr id="12" name="Text 8"/>
          <p:cNvSpPr/>
          <p:nvPr/>
        </p:nvSpPr>
        <p:spPr>
          <a:xfrm>
            <a:off x="4572000" y="2377440"/>
            <a:ext cx="3108960" cy="41148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AI Model Training</a:t>
            </a:r>
            <a:endParaRPr lang="en-US" sz="1300" dirty="0"/>
          </a:p>
        </p:txBody>
      </p:sp>
      <p:sp>
        <p:nvSpPr>
          <p:cNvPr id="13" name="Text 9"/>
          <p:cNvSpPr/>
          <p:nvPr/>
        </p:nvSpPr>
        <p:spPr>
          <a:xfrm>
            <a:off x="4572000" y="2788920"/>
            <a:ext cx="3108960" cy="96012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Training large ML/LLM models on GPU clusters that no single site could host.</a:t>
            </a:r>
            <a:endParaRPr lang="en-US" sz="1000" dirty="0"/>
          </a:p>
        </p:txBody>
      </p:sp>
      <p:sp>
        <p:nvSpPr>
          <p:cNvPr id="14" name="Shape 10"/>
          <p:cNvSpPr/>
          <p:nvPr/>
        </p:nvSpPr>
        <p:spPr>
          <a:xfrm>
            <a:off x="8138160" y="1508760"/>
            <a:ext cx="3566160" cy="2331720"/>
          </a:xfrm>
          <a:prstGeom prst="roundRect">
            <a:avLst>
              <a:gd name="adj" fmla="val 3137"/>
            </a:avLst>
          </a:prstGeom>
          <a:solidFill>
            <a:srgbClr val="FFFFFF"/>
          </a:solidFill>
          <a:ln w="12700">
            <a:solidFill>
              <a:srgbClr val="E3E9F2"/>
            </a:solidFill>
            <a:prstDash val="solid"/>
          </a:ln>
          <a:effectLst>
            <a:outerShdw sx="100000" sy="100000" kx="0" ky="0" algn="bl" rotWithShape="0" blurRad="101600" dist="38100" dir="5400000">
              <a:srgbClr val="0B1E3D">
                <a:alpha val="10000"/>
              </a:srgbClr>
            </a:outerShdw>
          </a:effectLst>
        </p:spPr>
      </p:sp>
      <p:sp>
        <p:nvSpPr>
          <p:cNvPr id="15" name="Shape 11"/>
          <p:cNvSpPr/>
          <p:nvPr/>
        </p:nvSpPr>
        <p:spPr>
          <a:xfrm>
            <a:off x="8366760" y="1737360"/>
            <a:ext cx="502920" cy="502920"/>
          </a:xfrm>
          <a:prstGeom prst="ellipse">
            <a:avLst/>
          </a:prstGeom>
          <a:solidFill>
            <a:srgbClr val="0B1E3D"/>
          </a:solidFill>
          <a:ln/>
          <a:effectLst>
            <a:outerShdw sx="100000" sy="100000" kx="0" ky="0" algn="bl" rotWithShape="0" blurRad="101600" dist="38100" dir="5400000">
              <a:srgbClr val="0B1E3D">
                <a:alpha val="25000"/>
              </a:srgbClr>
            </a:outerShdw>
          </a:effectLst>
        </p:spPr>
      </p:sp>
      <p:pic>
        <p:nvPicPr>
          <p:cNvPr id="16" name="Image 2" descr="/home/claude/edge_cloud/icon_server.png">    </p:cNvPr>
          <p:cNvPicPr>
            <a:picLocks noChangeAspect="1"/>
          </p:cNvPicPr>
          <p:nvPr/>
        </p:nvPicPr>
        <p:blipFill>
          <a:blip r:embed="rId3"/>
          <a:stretch>
            <a:fillRect/>
          </a:stretch>
        </p:blipFill>
        <p:spPr>
          <a:xfrm>
            <a:off x="8432140" y="1802740"/>
            <a:ext cx="372161" cy="372161"/>
          </a:xfrm>
          <a:prstGeom prst="rect">
            <a:avLst/>
          </a:prstGeom>
        </p:spPr>
      </p:pic>
      <p:sp>
        <p:nvSpPr>
          <p:cNvPr id="17" name="Text 12"/>
          <p:cNvSpPr/>
          <p:nvPr/>
        </p:nvSpPr>
        <p:spPr>
          <a:xfrm>
            <a:off x="8366760" y="2377440"/>
            <a:ext cx="3108960" cy="41148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SaaS &amp; Enterprise Apps</a:t>
            </a:r>
            <a:endParaRPr lang="en-US" sz="1300" dirty="0"/>
          </a:p>
        </p:txBody>
      </p:sp>
      <p:sp>
        <p:nvSpPr>
          <p:cNvPr id="18" name="Text 13"/>
          <p:cNvSpPr/>
          <p:nvPr/>
        </p:nvSpPr>
        <p:spPr>
          <a:xfrm>
            <a:off x="8366760" y="2788920"/>
            <a:ext cx="3108960" cy="96012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CRM, ERP, and productivity suites delivered globally with elastic capacity.</a:t>
            </a:r>
            <a:endParaRPr lang="en-US" sz="1000" dirty="0"/>
          </a:p>
        </p:txBody>
      </p:sp>
      <p:sp>
        <p:nvSpPr>
          <p:cNvPr id="19" name="Shape 14"/>
          <p:cNvSpPr/>
          <p:nvPr/>
        </p:nvSpPr>
        <p:spPr>
          <a:xfrm>
            <a:off x="548640" y="4069080"/>
            <a:ext cx="3566160" cy="2331720"/>
          </a:xfrm>
          <a:prstGeom prst="roundRect">
            <a:avLst>
              <a:gd name="adj" fmla="val 3137"/>
            </a:avLst>
          </a:prstGeom>
          <a:solidFill>
            <a:srgbClr val="FFFFFF"/>
          </a:solidFill>
          <a:ln w="12700">
            <a:solidFill>
              <a:srgbClr val="E3E9F2"/>
            </a:solidFill>
            <a:prstDash val="solid"/>
          </a:ln>
          <a:effectLst>
            <a:outerShdw sx="100000" sy="100000" kx="0" ky="0" algn="bl" rotWithShape="0" blurRad="101600" dist="38100" dir="5400000">
              <a:srgbClr val="0B1E3D">
                <a:alpha val="10000"/>
              </a:srgbClr>
            </a:outerShdw>
          </a:effectLst>
        </p:spPr>
      </p:sp>
      <p:sp>
        <p:nvSpPr>
          <p:cNvPr id="20" name="Shape 15"/>
          <p:cNvSpPr/>
          <p:nvPr/>
        </p:nvSpPr>
        <p:spPr>
          <a:xfrm>
            <a:off x="777240" y="4297680"/>
            <a:ext cx="502920" cy="502920"/>
          </a:xfrm>
          <a:prstGeom prst="ellipse">
            <a:avLst/>
          </a:prstGeom>
          <a:solidFill>
            <a:srgbClr val="0B1E3D"/>
          </a:solidFill>
          <a:ln/>
          <a:effectLst>
            <a:outerShdw sx="100000" sy="100000" kx="0" ky="0" algn="bl" rotWithShape="0" blurRad="101600" dist="38100" dir="5400000">
              <a:srgbClr val="0B1E3D">
                <a:alpha val="25000"/>
              </a:srgbClr>
            </a:outerShdw>
          </a:effectLst>
        </p:spPr>
      </p:sp>
      <p:pic>
        <p:nvPicPr>
          <p:cNvPr id="21" name="Image 3" descr="/home/claude/edge_cloud/icon_globe.png">    </p:cNvPr>
          <p:cNvPicPr>
            <a:picLocks noChangeAspect="1"/>
          </p:cNvPicPr>
          <p:nvPr/>
        </p:nvPicPr>
        <p:blipFill>
          <a:blip r:embed="rId4"/>
          <a:stretch>
            <a:fillRect/>
          </a:stretch>
        </p:blipFill>
        <p:spPr>
          <a:xfrm>
            <a:off x="842620" y="4363060"/>
            <a:ext cx="372161" cy="372161"/>
          </a:xfrm>
          <a:prstGeom prst="rect">
            <a:avLst/>
          </a:prstGeom>
        </p:spPr>
      </p:pic>
      <p:sp>
        <p:nvSpPr>
          <p:cNvPr id="22" name="Text 16"/>
          <p:cNvSpPr/>
          <p:nvPr/>
        </p:nvSpPr>
        <p:spPr>
          <a:xfrm>
            <a:off x="777240" y="4937760"/>
            <a:ext cx="3108960" cy="41148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Content Delivery</a:t>
            </a:r>
            <a:endParaRPr lang="en-US" sz="1300" dirty="0"/>
          </a:p>
        </p:txBody>
      </p:sp>
      <p:sp>
        <p:nvSpPr>
          <p:cNvPr id="23" name="Text 17"/>
          <p:cNvSpPr/>
          <p:nvPr/>
        </p:nvSpPr>
        <p:spPr>
          <a:xfrm>
            <a:off x="777240" y="5349240"/>
            <a:ext cx="3108960" cy="96012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Streaming media and websites served worldwide via distributed CDNs.</a:t>
            </a:r>
            <a:endParaRPr lang="en-US" sz="1000" dirty="0"/>
          </a:p>
        </p:txBody>
      </p:sp>
      <p:sp>
        <p:nvSpPr>
          <p:cNvPr id="24" name="Shape 18"/>
          <p:cNvSpPr/>
          <p:nvPr/>
        </p:nvSpPr>
        <p:spPr>
          <a:xfrm>
            <a:off x="4343400" y="4069080"/>
            <a:ext cx="3566160" cy="2331720"/>
          </a:xfrm>
          <a:prstGeom prst="roundRect">
            <a:avLst>
              <a:gd name="adj" fmla="val 3137"/>
            </a:avLst>
          </a:prstGeom>
          <a:solidFill>
            <a:srgbClr val="FFFFFF"/>
          </a:solidFill>
          <a:ln w="12700">
            <a:solidFill>
              <a:srgbClr val="E3E9F2"/>
            </a:solidFill>
            <a:prstDash val="solid"/>
          </a:ln>
          <a:effectLst>
            <a:outerShdw sx="100000" sy="100000" kx="0" ky="0" algn="bl" rotWithShape="0" blurRad="101600" dist="38100" dir="5400000">
              <a:srgbClr val="0B1E3D">
                <a:alpha val="10000"/>
              </a:srgbClr>
            </a:outerShdw>
          </a:effectLst>
        </p:spPr>
      </p:sp>
      <p:sp>
        <p:nvSpPr>
          <p:cNvPr id="25" name="Shape 19"/>
          <p:cNvSpPr/>
          <p:nvPr/>
        </p:nvSpPr>
        <p:spPr>
          <a:xfrm>
            <a:off x="4572000" y="4297680"/>
            <a:ext cx="502920" cy="502920"/>
          </a:xfrm>
          <a:prstGeom prst="ellipse">
            <a:avLst/>
          </a:prstGeom>
          <a:solidFill>
            <a:srgbClr val="0B1E3D"/>
          </a:solidFill>
          <a:ln/>
          <a:effectLst>
            <a:outerShdw sx="100000" sy="100000" kx="0" ky="0" algn="bl" rotWithShape="0" blurRad="101600" dist="38100" dir="5400000">
              <a:srgbClr val="0B1E3D">
                <a:alpha val="25000"/>
              </a:srgbClr>
            </a:outerShdw>
          </a:effectLst>
        </p:spPr>
      </p:sp>
      <p:pic>
        <p:nvPicPr>
          <p:cNvPr id="26" name="Image 4" descr="/home/claude/edge_cloud/icon_layers.png">    </p:cNvPr>
          <p:cNvPicPr>
            <a:picLocks noChangeAspect="1"/>
          </p:cNvPicPr>
          <p:nvPr/>
        </p:nvPicPr>
        <p:blipFill>
          <a:blip r:embed="rId5"/>
          <a:stretch>
            <a:fillRect/>
          </a:stretch>
        </p:blipFill>
        <p:spPr>
          <a:xfrm>
            <a:off x="4637380" y="4363060"/>
            <a:ext cx="372161" cy="372161"/>
          </a:xfrm>
          <a:prstGeom prst="rect">
            <a:avLst/>
          </a:prstGeom>
        </p:spPr>
      </p:pic>
      <p:sp>
        <p:nvSpPr>
          <p:cNvPr id="27" name="Text 20"/>
          <p:cNvSpPr/>
          <p:nvPr/>
        </p:nvSpPr>
        <p:spPr>
          <a:xfrm>
            <a:off x="4572000" y="4937760"/>
            <a:ext cx="3108960" cy="41148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Backup &amp; Disaster Recovery</a:t>
            </a:r>
            <a:endParaRPr lang="en-US" sz="1300" dirty="0"/>
          </a:p>
        </p:txBody>
      </p:sp>
      <p:sp>
        <p:nvSpPr>
          <p:cNvPr id="28" name="Text 21"/>
          <p:cNvSpPr/>
          <p:nvPr/>
        </p:nvSpPr>
        <p:spPr>
          <a:xfrm>
            <a:off x="4572000" y="5349240"/>
            <a:ext cx="3108960" cy="96012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Durable, geo-redundant storage for business continuity.</a:t>
            </a:r>
            <a:endParaRPr lang="en-US" sz="1000" dirty="0"/>
          </a:p>
        </p:txBody>
      </p:sp>
      <p:sp>
        <p:nvSpPr>
          <p:cNvPr id="29" name="Shape 22"/>
          <p:cNvSpPr/>
          <p:nvPr/>
        </p:nvSpPr>
        <p:spPr>
          <a:xfrm>
            <a:off x="8138160" y="4069080"/>
            <a:ext cx="3566160" cy="2331720"/>
          </a:xfrm>
          <a:prstGeom prst="roundRect">
            <a:avLst>
              <a:gd name="adj" fmla="val 3137"/>
            </a:avLst>
          </a:prstGeom>
          <a:solidFill>
            <a:srgbClr val="FFFFFF"/>
          </a:solidFill>
          <a:ln w="12700">
            <a:solidFill>
              <a:srgbClr val="E3E9F2"/>
            </a:solidFill>
            <a:prstDash val="solid"/>
          </a:ln>
          <a:effectLst>
            <a:outerShdw sx="100000" sy="100000" kx="0" ky="0" algn="bl" rotWithShape="0" blurRad="101600" dist="38100" dir="5400000">
              <a:srgbClr val="0B1E3D">
                <a:alpha val="10000"/>
              </a:srgbClr>
            </a:outerShdw>
          </a:effectLst>
        </p:spPr>
      </p:sp>
      <p:sp>
        <p:nvSpPr>
          <p:cNvPr id="30" name="Shape 23"/>
          <p:cNvSpPr/>
          <p:nvPr/>
        </p:nvSpPr>
        <p:spPr>
          <a:xfrm>
            <a:off x="8366760" y="4297680"/>
            <a:ext cx="502920" cy="502920"/>
          </a:xfrm>
          <a:prstGeom prst="ellipse">
            <a:avLst/>
          </a:prstGeom>
          <a:solidFill>
            <a:srgbClr val="0B1E3D"/>
          </a:solidFill>
          <a:ln/>
          <a:effectLst>
            <a:outerShdw sx="100000" sy="100000" kx="0" ky="0" algn="bl" rotWithShape="0" blurRad="101600" dist="38100" dir="5400000">
              <a:srgbClr val="0B1E3D">
                <a:alpha val="25000"/>
              </a:srgbClr>
            </a:outerShdw>
          </a:effectLst>
        </p:spPr>
      </p:sp>
      <p:pic>
        <p:nvPicPr>
          <p:cNvPr id="31" name="Image 5" descr="/home/claude/edge_cloud/icon_cogs.png">    </p:cNvPr>
          <p:cNvPicPr>
            <a:picLocks noChangeAspect="1"/>
          </p:cNvPicPr>
          <p:nvPr/>
        </p:nvPicPr>
        <p:blipFill>
          <a:blip r:embed="rId6"/>
          <a:stretch>
            <a:fillRect/>
          </a:stretch>
        </p:blipFill>
        <p:spPr>
          <a:xfrm>
            <a:off x="8432140" y="4363060"/>
            <a:ext cx="372161" cy="372161"/>
          </a:xfrm>
          <a:prstGeom prst="rect">
            <a:avLst/>
          </a:prstGeom>
        </p:spPr>
      </p:pic>
      <p:sp>
        <p:nvSpPr>
          <p:cNvPr id="32" name="Text 24"/>
          <p:cNvSpPr/>
          <p:nvPr/>
        </p:nvSpPr>
        <p:spPr>
          <a:xfrm>
            <a:off x="8366760" y="4937760"/>
            <a:ext cx="3108960" cy="41148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DevOps &amp; CI/CD</a:t>
            </a:r>
            <a:endParaRPr lang="en-US" sz="1300" dirty="0"/>
          </a:p>
        </p:txBody>
      </p:sp>
      <p:sp>
        <p:nvSpPr>
          <p:cNvPr id="33" name="Text 25"/>
          <p:cNvSpPr/>
          <p:nvPr/>
        </p:nvSpPr>
        <p:spPr>
          <a:xfrm>
            <a:off x="8366760" y="5349240"/>
            <a:ext cx="3108960" cy="96012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Centralized build, test, and deployment pipelines for software teams.</a:t>
            </a:r>
            <a:endParaRPr lang="en-US" sz="1000" dirty="0"/>
          </a:p>
        </p:txBody>
      </p:sp>
      <p:sp>
        <p:nvSpPr>
          <p:cNvPr id="34" name="Text 26"/>
          <p:cNvSpPr/>
          <p:nvPr/>
        </p:nvSpPr>
        <p:spPr>
          <a:xfrm>
            <a:off x="457200" y="6537960"/>
            <a:ext cx="5486400" cy="274320"/>
          </a:xfrm>
          <a:prstGeom prst="rect">
            <a:avLst/>
          </a:prstGeom>
          <a:noFill/>
          <a:ln/>
        </p:spPr>
        <p:txBody>
          <a:bodyPr wrap="square" rtlCol="0" anchor="ctr"/>
          <a:lstStyle/>
          <a:p>
            <a:pPr indent="0" marL="0">
              <a:buNone/>
            </a:pPr>
            <a:r>
              <a:rPr lang="en-US" sz="900" i="1" dirty="0">
                <a:solidFill>
                  <a:srgbClr val="5B6B85"/>
                </a:solidFill>
                <a:latin typeface="Calibri" pitchFamily="34" charset="0"/>
                <a:ea typeface="Calibri" pitchFamily="34" charset="-122"/>
                <a:cs typeface="Calibri" pitchFamily="34" charset="-120"/>
              </a:rPr>
              <a:t>Edge vs Cloud Computing</a:t>
            </a:r>
            <a:endParaRPr lang="en-US" sz="900" dirty="0"/>
          </a:p>
        </p:txBody>
      </p:sp>
      <p:sp>
        <p:nvSpPr>
          <p:cNvPr id="35" name="Text 27"/>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indent="0" marL="0">
              <a:buNone/>
            </a:pPr>
            <a:r>
              <a:rPr lang="en-US" sz="1200" b="1" spc="200" kern="0" dirty="0">
                <a:solidFill>
                  <a:srgbClr val="0090A8"/>
                </a:solidFill>
                <a:latin typeface="Calibri" pitchFamily="34" charset="0"/>
                <a:ea typeface="Calibri" pitchFamily="34" charset="-122"/>
                <a:cs typeface="Calibri" pitchFamily="34" charset="-120"/>
              </a:rPr>
              <a:t>EDGE COMPUTING</a:t>
            </a:r>
            <a:endParaRPr lang="en-US" sz="1200" dirty="0"/>
          </a:p>
        </p:txBody>
      </p:sp>
      <p:sp>
        <p:nvSpPr>
          <p:cNvPr id="3" name="Text 1"/>
          <p:cNvSpPr/>
          <p:nvPr/>
        </p:nvSpPr>
        <p:spPr>
          <a:xfrm>
            <a:off x="548640" y="749808"/>
            <a:ext cx="82296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Where the Edge Excels</a:t>
            </a:r>
            <a:endParaRPr lang="en-US" sz="2800" dirty="0"/>
          </a:p>
        </p:txBody>
      </p:sp>
      <p:sp>
        <p:nvSpPr>
          <p:cNvPr id="4" name="Shape 2"/>
          <p:cNvSpPr/>
          <p:nvPr/>
        </p:nvSpPr>
        <p:spPr>
          <a:xfrm>
            <a:off x="548640" y="1508760"/>
            <a:ext cx="3566160" cy="2331720"/>
          </a:xfrm>
          <a:prstGeom prst="roundRect">
            <a:avLst>
              <a:gd name="adj" fmla="val 3137"/>
            </a:avLst>
          </a:prstGeom>
          <a:solidFill>
            <a:srgbClr val="FFFFFF"/>
          </a:solidFill>
          <a:ln w="12700">
            <a:solidFill>
              <a:srgbClr val="E3E9F2"/>
            </a:solidFill>
            <a:prstDash val="solid"/>
          </a:ln>
          <a:effectLst>
            <a:outerShdw sx="100000" sy="100000" kx="0" ky="0" algn="bl" rotWithShape="0" blurRad="101600" dist="38100" dir="5400000">
              <a:srgbClr val="0B1E3D">
                <a:alpha val="10000"/>
              </a:srgbClr>
            </a:outerShdw>
          </a:effectLst>
        </p:spPr>
      </p:sp>
      <p:sp>
        <p:nvSpPr>
          <p:cNvPr id="5" name="Shape 3"/>
          <p:cNvSpPr/>
          <p:nvPr/>
        </p:nvSpPr>
        <p:spPr>
          <a:xfrm>
            <a:off x="777240" y="1737360"/>
            <a:ext cx="502920" cy="502920"/>
          </a:xfrm>
          <a:prstGeom prst="ellipse">
            <a:avLst/>
          </a:prstGeom>
          <a:solidFill>
            <a:srgbClr val="0090A8"/>
          </a:solidFill>
          <a:ln/>
          <a:effectLst>
            <a:outerShdw sx="100000" sy="100000" kx="0" ky="0" algn="bl" rotWithShape="0" blurRad="101600" dist="38100" dir="5400000">
              <a:srgbClr val="0B1E3D">
                <a:alpha val="25000"/>
              </a:srgbClr>
            </a:outerShdw>
          </a:effectLst>
        </p:spPr>
      </p:sp>
      <p:pic>
        <p:nvPicPr>
          <p:cNvPr id="6" name="Image 0" descr="/home/claude/edge_cloud/icon_car.png">    </p:cNvPr>
          <p:cNvPicPr>
            <a:picLocks noChangeAspect="1"/>
          </p:cNvPicPr>
          <p:nvPr/>
        </p:nvPicPr>
        <p:blipFill>
          <a:blip r:embed="rId1"/>
          <a:stretch>
            <a:fillRect/>
          </a:stretch>
        </p:blipFill>
        <p:spPr>
          <a:xfrm>
            <a:off x="842620" y="1802740"/>
            <a:ext cx="372161" cy="372161"/>
          </a:xfrm>
          <a:prstGeom prst="rect">
            <a:avLst/>
          </a:prstGeom>
        </p:spPr>
      </p:pic>
      <p:sp>
        <p:nvSpPr>
          <p:cNvPr id="7" name="Text 4"/>
          <p:cNvSpPr/>
          <p:nvPr/>
        </p:nvSpPr>
        <p:spPr>
          <a:xfrm>
            <a:off x="777240" y="2377440"/>
            <a:ext cx="3108960" cy="41148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Autonomous Vehicles</a:t>
            </a:r>
            <a:endParaRPr lang="en-US" sz="1300" dirty="0"/>
          </a:p>
        </p:txBody>
      </p:sp>
      <p:sp>
        <p:nvSpPr>
          <p:cNvPr id="8" name="Text 5"/>
          <p:cNvSpPr/>
          <p:nvPr/>
        </p:nvSpPr>
        <p:spPr>
          <a:xfrm>
            <a:off x="777240" y="2788920"/>
            <a:ext cx="3108960" cy="96012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Split-second perception and control decisions made onboard, not in the cloud.</a:t>
            </a:r>
            <a:endParaRPr lang="en-US" sz="1000" dirty="0"/>
          </a:p>
        </p:txBody>
      </p:sp>
      <p:sp>
        <p:nvSpPr>
          <p:cNvPr id="9" name="Shape 6"/>
          <p:cNvSpPr/>
          <p:nvPr/>
        </p:nvSpPr>
        <p:spPr>
          <a:xfrm>
            <a:off x="4343400" y="1508760"/>
            <a:ext cx="3566160" cy="2331720"/>
          </a:xfrm>
          <a:prstGeom prst="roundRect">
            <a:avLst>
              <a:gd name="adj" fmla="val 3137"/>
            </a:avLst>
          </a:prstGeom>
          <a:solidFill>
            <a:srgbClr val="FFFFFF"/>
          </a:solidFill>
          <a:ln w="12700">
            <a:solidFill>
              <a:srgbClr val="E3E9F2"/>
            </a:solidFill>
            <a:prstDash val="solid"/>
          </a:ln>
          <a:effectLst>
            <a:outerShdw sx="100000" sy="100000" kx="0" ky="0" algn="bl" rotWithShape="0" blurRad="101600" dist="38100" dir="5400000">
              <a:srgbClr val="0B1E3D">
                <a:alpha val="10000"/>
              </a:srgbClr>
            </a:outerShdw>
          </a:effectLst>
        </p:spPr>
      </p:sp>
      <p:sp>
        <p:nvSpPr>
          <p:cNvPr id="10" name="Shape 7"/>
          <p:cNvSpPr/>
          <p:nvPr/>
        </p:nvSpPr>
        <p:spPr>
          <a:xfrm>
            <a:off x="4572000" y="1737360"/>
            <a:ext cx="502920" cy="502920"/>
          </a:xfrm>
          <a:prstGeom prst="ellipse">
            <a:avLst/>
          </a:prstGeom>
          <a:solidFill>
            <a:srgbClr val="0090A8"/>
          </a:solidFill>
          <a:ln/>
          <a:effectLst>
            <a:outerShdw sx="100000" sy="100000" kx="0" ky="0" algn="bl" rotWithShape="0" blurRad="101600" dist="38100" dir="5400000">
              <a:srgbClr val="0B1E3D">
                <a:alpha val="25000"/>
              </a:srgbClr>
            </a:outerShdw>
          </a:effectLst>
        </p:spPr>
      </p:sp>
      <p:pic>
        <p:nvPicPr>
          <p:cNvPr id="11" name="Image 1" descr="/home/claude/edge_cloud/icon_factory.png">    </p:cNvPr>
          <p:cNvPicPr>
            <a:picLocks noChangeAspect="1"/>
          </p:cNvPicPr>
          <p:nvPr/>
        </p:nvPicPr>
        <p:blipFill>
          <a:blip r:embed="rId2"/>
          <a:stretch>
            <a:fillRect/>
          </a:stretch>
        </p:blipFill>
        <p:spPr>
          <a:xfrm>
            <a:off x="4637380" y="1802740"/>
            <a:ext cx="372161" cy="372161"/>
          </a:xfrm>
          <a:prstGeom prst="rect">
            <a:avLst/>
          </a:prstGeom>
        </p:spPr>
      </p:pic>
      <p:sp>
        <p:nvSpPr>
          <p:cNvPr id="12" name="Text 8"/>
          <p:cNvSpPr/>
          <p:nvPr/>
        </p:nvSpPr>
        <p:spPr>
          <a:xfrm>
            <a:off x="4572000" y="2377440"/>
            <a:ext cx="3108960" cy="41148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Industrial Automation</a:t>
            </a:r>
            <a:endParaRPr lang="en-US" sz="1300" dirty="0"/>
          </a:p>
        </p:txBody>
      </p:sp>
      <p:sp>
        <p:nvSpPr>
          <p:cNvPr id="13" name="Text 9"/>
          <p:cNvSpPr/>
          <p:nvPr/>
        </p:nvSpPr>
        <p:spPr>
          <a:xfrm>
            <a:off x="4572000" y="2788920"/>
            <a:ext cx="3108960" cy="96012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Real-time defect detection and machine control on the factory floor.</a:t>
            </a:r>
            <a:endParaRPr lang="en-US" sz="1000" dirty="0"/>
          </a:p>
        </p:txBody>
      </p:sp>
      <p:sp>
        <p:nvSpPr>
          <p:cNvPr id="14" name="Shape 10"/>
          <p:cNvSpPr/>
          <p:nvPr/>
        </p:nvSpPr>
        <p:spPr>
          <a:xfrm>
            <a:off x="8138160" y="1508760"/>
            <a:ext cx="3566160" cy="2331720"/>
          </a:xfrm>
          <a:prstGeom prst="roundRect">
            <a:avLst>
              <a:gd name="adj" fmla="val 3137"/>
            </a:avLst>
          </a:prstGeom>
          <a:solidFill>
            <a:srgbClr val="FFFFFF"/>
          </a:solidFill>
          <a:ln w="12700">
            <a:solidFill>
              <a:srgbClr val="E3E9F2"/>
            </a:solidFill>
            <a:prstDash val="solid"/>
          </a:ln>
          <a:effectLst>
            <a:outerShdw sx="100000" sy="100000" kx="0" ky="0" algn="bl" rotWithShape="0" blurRad="101600" dist="38100" dir="5400000">
              <a:srgbClr val="0B1E3D">
                <a:alpha val="10000"/>
              </a:srgbClr>
            </a:outerShdw>
          </a:effectLst>
        </p:spPr>
      </p:sp>
      <p:sp>
        <p:nvSpPr>
          <p:cNvPr id="15" name="Shape 11"/>
          <p:cNvSpPr/>
          <p:nvPr/>
        </p:nvSpPr>
        <p:spPr>
          <a:xfrm>
            <a:off x="8366760" y="1737360"/>
            <a:ext cx="502920" cy="502920"/>
          </a:xfrm>
          <a:prstGeom prst="ellipse">
            <a:avLst/>
          </a:prstGeom>
          <a:solidFill>
            <a:srgbClr val="0090A8"/>
          </a:solidFill>
          <a:ln/>
          <a:effectLst>
            <a:outerShdw sx="100000" sy="100000" kx="0" ky="0" algn="bl" rotWithShape="0" blurRad="101600" dist="38100" dir="5400000">
              <a:srgbClr val="0B1E3D">
                <a:alpha val="25000"/>
              </a:srgbClr>
            </a:outerShdw>
          </a:effectLst>
        </p:spPr>
      </p:sp>
      <p:pic>
        <p:nvPicPr>
          <p:cNvPr id="16" name="Image 2" descr="/home/claude/edge_cloud/icon_heartbeat.png">    </p:cNvPr>
          <p:cNvPicPr>
            <a:picLocks noChangeAspect="1"/>
          </p:cNvPicPr>
          <p:nvPr/>
        </p:nvPicPr>
        <p:blipFill>
          <a:blip r:embed="rId3"/>
          <a:stretch>
            <a:fillRect/>
          </a:stretch>
        </p:blipFill>
        <p:spPr>
          <a:xfrm>
            <a:off x="8432140" y="1802740"/>
            <a:ext cx="372161" cy="372161"/>
          </a:xfrm>
          <a:prstGeom prst="rect">
            <a:avLst/>
          </a:prstGeom>
        </p:spPr>
      </p:pic>
      <p:sp>
        <p:nvSpPr>
          <p:cNvPr id="17" name="Text 12"/>
          <p:cNvSpPr/>
          <p:nvPr/>
        </p:nvSpPr>
        <p:spPr>
          <a:xfrm>
            <a:off x="8366760" y="2377440"/>
            <a:ext cx="3108960" cy="41148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Remote Patient Monitoring</a:t>
            </a:r>
            <a:endParaRPr lang="en-US" sz="1300" dirty="0"/>
          </a:p>
        </p:txBody>
      </p:sp>
      <p:sp>
        <p:nvSpPr>
          <p:cNvPr id="18" name="Text 13"/>
          <p:cNvSpPr/>
          <p:nvPr/>
        </p:nvSpPr>
        <p:spPr>
          <a:xfrm>
            <a:off x="8366760" y="2788920"/>
            <a:ext cx="3108960" cy="96012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Wearables flag anomalies instantly without waiting on a network round trip.</a:t>
            </a:r>
            <a:endParaRPr lang="en-US" sz="1000" dirty="0"/>
          </a:p>
        </p:txBody>
      </p:sp>
      <p:sp>
        <p:nvSpPr>
          <p:cNvPr id="19" name="Shape 14"/>
          <p:cNvSpPr/>
          <p:nvPr/>
        </p:nvSpPr>
        <p:spPr>
          <a:xfrm>
            <a:off x="548640" y="4069080"/>
            <a:ext cx="3566160" cy="2331720"/>
          </a:xfrm>
          <a:prstGeom prst="roundRect">
            <a:avLst>
              <a:gd name="adj" fmla="val 3137"/>
            </a:avLst>
          </a:prstGeom>
          <a:solidFill>
            <a:srgbClr val="FFFFFF"/>
          </a:solidFill>
          <a:ln w="12700">
            <a:solidFill>
              <a:srgbClr val="E3E9F2"/>
            </a:solidFill>
            <a:prstDash val="solid"/>
          </a:ln>
          <a:effectLst>
            <a:outerShdw sx="100000" sy="100000" kx="0" ky="0" algn="bl" rotWithShape="0" blurRad="101600" dist="38100" dir="5400000">
              <a:srgbClr val="0B1E3D">
                <a:alpha val="10000"/>
              </a:srgbClr>
            </a:outerShdw>
          </a:effectLst>
        </p:spPr>
      </p:sp>
      <p:sp>
        <p:nvSpPr>
          <p:cNvPr id="20" name="Shape 15"/>
          <p:cNvSpPr/>
          <p:nvPr/>
        </p:nvSpPr>
        <p:spPr>
          <a:xfrm>
            <a:off x="777240" y="4297680"/>
            <a:ext cx="502920" cy="502920"/>
          </a:xfrm>
          <a:prstGeom prst="ellipse">
            <a:avLst/>
          </a:prstGeom>
          <a:solidFill>
            <a:srgbClr val="0090A8"/>
          </a:solidFill>
          <a:ln/>
          <a:effectLst>
            <a:outerShdw sx="100000" sy="100000" kx="0" ky="0" algn="bl" rotWithShape="0" blurRad="101600" dist="38100" dir="5400000">
              <a:srgbClr val="0B1E3D">
                <a:alpha val="25000"/>
              </a:srgbClr>
            </a:outerShdw>
          </a:effectLst>
        </p:spPr>
      </p:sp>
      <p:pic>
        <p:nvPicPr>
          <p:cNvPr id="21" name="Image 3" descr="/home/claude/edge_cloud/icon_city.png">    </p:cNvPr>
          <p:cNvPicPr>
            <a:picLocks noChangeAspect="1"/>
          </p:cNvPicPr>
          <p:nvPr/>
        </p:nvPicPr>
        <p:blipFill>
          <a:blip r:embed="rId4"/>
          <a:stretch>
            <a:fillRect/>
          </a:stretch>
        </p:blipFill>
        <p:spPr>
          <a:xfrm>
            <a:off x="842620" y="4363060"/>
            <a:ext cx="372161" cy="372161"/>
          </a:xfrm>
          <a:prstGeom prst="rect">
            <a:avLst/>
          </a:prstGeom>
        </p:spPr>
      </p:pic>
      <p:sp>
        <p:nvSpPr>
          <p:cNvPr id="22" name="Text 16"/>
          <p:cNvSpPr/>
          <p:nvPr/>
        </p:nvSpPr>
        <p:spPr>
          <a:xfrm>
            <a:off x="777240" y="4937760"/>
            <a:ext cx="3108960" cy="41148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Smart City Infrastructure</a:t>
            </a:r>
            <a:endParaRPr lang="en-US" sz="1300" dirty="0"/>
          </a:p>
        </p:txBody>
      </p:sp>
      <p:sp>
        <p:nvSpPr>
          <p:cNvPr id="23" name="Text 17"/>
          <p:cNvSpPr/>
          <p:nvPr/>
        </p:nvSpPr>
        <p:spPr>
          <a:xfrm>
            <a:off x="777240" y="5349240"/>
            <a:ext cx="3108960" cy="96012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Traffic signals and utility grids respond locally to live conditions.</a:t>
            </a:r>
            <a:endParaRPr lang="en-US" sz="1000" dirty="0"/>
          </a:p>
        </p:txBody>
      </p:sp>
      <p:sp>
        <p:nvSpPr>
          <p:cNvPr id="24" name="Shape 18"/>
          <p:cNvSpPr/>
          <p:nvPr/>
        </p:nvSpPr>
        <p:spPr>
          <a:xfrm>
            <a:off x="4343400" y="4069080"/>
            <a:ext cx="3566160" cy="2331720"/>
          </a:xfrm>
          <a:prstGeom prst="roundRect">
            <a:avLst>
              <a:gd name="adj" fmla="val 3137"/>
            </a:avLst>
          </a:prstGeom>
          <a:solidFill>
            <a:srgbClr val="FFFFFF"/>
          </a:solidFill>
          <a:ln w="12700">
            <a:solidFill>
              <a:srgbClr val="E3E9F2"/>
            </a:solidFill>
            <a:prstDash val="solid"/>
          </a:ln>
          <a:effectLst>
            <a:outerShdw sx="100000" sy="100000" kx="0" ky="0" algn="bl" rotWithShape="0" blurRad="101600" dist="38100" dir="5400000">
              <a:srgbClr val="0B1E3D">
                <a:alpha val="10000"/>
              </a:srgbClr>
            </a:outerShdw>
          </a:effectLst>
        </p:spPr>
      </p:sp>
      <p:sp>
        <p:nvSpPr>
          <p:cNvPr id="25" name="Shape 19"/>
          <p:cNvSpPr/>
          <p:nvPr/>
        </p:nvSpPr>
        <p:spPr>
          <a:xfrm>
            <a:off x="4572000" y="4297680"/>
            <a:ext cx="502920" cy="502920"/>
          </a:xfrm>
          <a:prstGeom prst="ellipse">
            <a:avLst/>
          </a:prstGeom>
          <a:solidFill>
            <a:srgbClr val="0090A8"/>
          </a:solidFill>
          <a:ln/>
          <a:effectLst>
            <a:outerShdw sx="100000" sy="100000" kx="0" ky="0" algn="bl" rotWithShape="0" blurRad="101600" dist="38100" dir="5400000">
              <a:srgbClr val="0B1E3D">
                <a:alpha val="25000"/>
              </a:srgbClr>
            </a:outerShdw>
          </a:effectLst>
        </p:spPr>
      </p:sp>
      <p:pic>
        <p:nvPicPr>
          <p:cNvPr id="26" name="Image 4" descr="/home/claude/edge_cloud/icon_wifi.png">    </p:cNvPr>
          <p:cNvPicPr>
            <a:picLocks noChangeAspect="1"/>
          </p:cNvPicPr>
          <p:nvPr/>
        </p:nvPicPr>
        <p:blipFill>
          <a:blip r:embed="rId5"/>
          <a:stretch>
            <a:fillRect/>
          </a:stretch>
        </p:blipFill>
        <p:spPr>
          <a:xfrm>
            <a:off x="4637380" y="4363060"/>
            <a:ext cx="372161" cy="372161"/>
          </a:xfrm>
          <a:prstGeom prst="rect">
            <a:avLst/>
          </a:prstGeom>
        </p:spPr>
      </p:pic>
      <p:sp>
        <p:nvSpPr>
          <p:cNvPr id="27" name="Text 20"/>
          <p:cNvSpPr/>
          <p:nvPr/>
        </p:nvSpPr>
        <p:spPr>
          <a:xfrm>
            <a:off x="4572000" y="4937760"/>
            <a:ext cx="3108960" cy="41148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AR/VR Experiences</a:t>
            </a:r>
            <a:endParaRPr lang="en-US" sz="1300" dirty="0"/>
          </a:p>
        </p:txBody>
      </p:sp>
      <p:sp>
        <p:nvSpPr>
          <p:cNvPr id="28" name="Text 21"/>
          <p:cNvSpPr/>
          <p:nvPr/>
        </p:nvSpPr>
        <p:spPr>
          <a:xfrm>
            <a:off x="4572000" y="5349240"/>
            <a:ext cx="3108960" cy="96012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Low-latency rendering keeps immersive experiences smooth and comfortable.</a:t>
            </a:r>
            <a:endParaRPr lang="en-US" sz="1000" dirty="0"/>
          </a:p>
        </p:txBody>
      </p:sp>
      <p:sp>
        <p:nvSpPr>
          <p:cNvPr id="29" name="Shape 22"/>
          <p:cNvSpPr/>
          <p:nvPr/>
        </p:nvSpPr>
        <p:spPr>
          <a:xfrm>
            <a:off x="8138160" y="4069080"/>
            <a:ext cx="3566160" cy="2331720"/>
          </a:xfrm>
          <a:prstGeom prst="roundRect">
            <a:avLst>
              <a:gd name="adj" fmla="val 3137"/>
            </a:avLst>
          </a:prstGeom>
          <a:solidFill>
            <a:srgbClr val="FFFFFF"/>
          </a:solidFill>
          <a:ln w="12700">
            <a:solidFill>
              <a:srgbClr val="E3E9F2"/>
            </a:solidFill>
            <a:prstDash val="solid"/>
          </a:ln>
          <a:effectLst>
            <a:outerShdw sx="100000" sy="100000" kx="0" ky="0" algn="bl" rotWithShape="0" blurRad="101600" dist="38100" dir="5400000">
              <a:srgbClr val="0B1E3D">
                <a:alpha val="10000"/>
              </a:srgbClr>
            </a:outerShdw>
          </a:effectLst>
        </p:spPr>
      </p:sp>
      <p:sp>
        <p:nvSpPr>
          <p:cNvPr id="30" name="Shape 23"/>
          <p:cNvSpPr/>
          <p:nvPr/>
        </p:nvSpPr>
        <p:spPr>
          <a:xfrm>
            <a:off x="8366760" y="4297680"/>
            <a:ext cx="502920" cy="502920"/>
          </a:xfrm>
          <a:prstGeom prst="ellipse">
            <a:avLst/>
          </a:prstGeom>
          <a:solidFill>
            <a:srgbClr val="0090A8"/>
          </a:solidFill>
          <a:ln/>
          <a:effectLst>
            <a:outerShdw sx="100000" sy="100000" kx="0" ky="0" algn="bl" rotWithShape="0" blurRad="101600" dist="38100" dir="5400000">
              <a:srgbClr val="0B1E3D">
                <a:alpha val="25000"/>
              </a:srgbClr>
            </a:outerShdw>
          </a:effectLst>
        </p:spPr>
      </p:sp>
      <p:pic>
        <p:nvPicPr>
          <p:cNvPr id="31" name="Image 5" descr="/home/claude/edge_cloud/icon_shield.png">    </p:cNvPr>
          <p:cNvPicPr>
            <a:picLocks noChangeAspect="1"/>
          </p:cNvPicPr>
          <p:nvPr/>
        </p:nvPicPr>
        <p:blipFill>
          <a:blip r:embed="rId6"/>
          <a:stretch>
            <a:fillRect/>
          </a:stretch>
        </p:blipFill>
        <p:spPr>
          <a:xfrm>
            <a:off x="8432140" y="4363060"/>
            <a:ext cx="372161" cy="372161"/>
          </a:xfrm>
          <a:prstGeom prst="rect">
            <a:avLst/>
          </a:prstGeom>
        </p:spPr>
      </p:pic>
      <p:sp>
        <p:nvSpPr>
          <p:cNvPr id="32" name="Text 24"/>
          <p:cNvSpPr/>
          <p:nvPr/>
        </p:nvSpPr>
        <p:spPr>
          <a:xfrm>
            <a:off x="8366760" y="4937760"/>
            <a:ext cx="3108960" cy="41148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Video Surveillance &amp; Security</a:t>
            </a:r>
            <a:endParaRPr lang="en-US" sz="1300" dirty="0"/>
          </a:p>
        </p:txBody>
      </p:sp>
      <p:sp>
        <p:nvSpPr>
          <p:cNvPr id="33" name="Text 25"/>
          <p:cNvSpPr/>
          <p:nvPr/>
        </p:nvSpPr>
        <p:spPr>
          <a:xfrm>
            <a:off x="8366760" y="5349240"/>
            <a:ext cx="3108960" cy="96012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On-camera analytics flag events without streaming raw video everywhere.</a:t>
            </a:r>
            <a:endParaRPr lang="en-US" sz="1000" dirty="0"/>
          </a:p>
        </p:txBody>
      </p:sp>
      <p:sp>
        <p:nvSpPr>
          <p:cNvPr id="34" name="Text 26"/>
          <p:cNvSpPr/>
          <p:nvPr/>
        </p:nvSpPr>
        <p:spPr>
          <a:xfrm>
            <a:off x="457200" y="6537960"/>
            <a:ext cx="5486400" cy="274320"/>
          </a:xfrm>
          <a:prstGeom prst="rect">
            <a:avLst/>
          </a:prstGeom>
          <a:noFill/>
          <a:ln/>
        </p:spPr>
        <p:txBody>
          <a:bodyPr wrap="square" rtlCol="0" anchor="ctr"/>
          <a:lstStyle/>
          <a:p>
            <a:pPr indent="0" marL="0">
              <a:buNone/>
            </a:pPr>
            <a:r>
              <a:rPr lang="en-US" sz="900" i="1" dirty="0">
                <a:solidFill>
                  <a:srgbClr val="5B6B85"/>
                </a:solidFill>
                <a:latin typeface="Calibri" pitchFamily="34" charset="0"/>
                <a:ea typeface="Calibri" pitchFamily="34" charset="-122"/>
                <a:cs typeface="Calibri" pitchFamily="34" charset="-120"/>
              </a:rPr>
              <a:t>Edge vs Cloud Computing</a:t>
            </a:r>
            <a:endParaRPr lang="en-US" sz="900" dirty="0"/>
          </a:p>
        </p:txBody>
      </p:sp>
      <p:sp>
        <p:nvSpPr>
          <p:cNvPr id="35" name="Text 27"/>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rtlCol="0" anchor="ctr"/>
          <a:lstStyle/>
          <a:p>
            <a:pPr indent="0" marL="0">
              <a:buNone/>
            </a:pPr>
            <a:r>
              <a:rPr lang="en-US" sz="1200" b="1" spc="200" kern="0" dirty="0">
                <a:solidFill>
                  <a:srgbClr val="FF8C42"/>
                </a:solidFill>
                <a:latin typeface="Calibri" pitchFamily="34" charset="0"/>
                <a:ea typeface="Calibri" pitchFamily="34" charset="-122"/>
                <a:cs typeface="Calibri" pitchFamily="34" charset="-120"/>
              </a:rPr>
              <a:t>INDUSTRY ADOPTION · 01</a:t>
            </a:r>
            <a:endParaRPr lang="en-US" sz="1200" dirty="0"/>
          </a:p>
        </p:txBody>
      </p:sp>
      <p:sp>
        <p:nvSpPr>
          <p:cNvPr id="3" name="Text 1"/>
          <p:cNvSpPr/>
          <p:nvPr/>
        </p:nvSpPr>
        <p:spPr>
          <a:xfrm>
            <a:off x="548640" y="749808"/>
            <a:ext cx="82296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Manufacturing &amp; Healthcare</a:t>
            </a:r>
            <a:endParaRPr lang="en-US" sz="2800" dirty="0"/>
          </a:p>
        </p:txBody>
      </p:sp>
      <p:sp>
        <p:nvSpPr>
          <p:cNvPr id="4" name="Shape 2"/>
          <p:cNvSpPr/>
          <p:nvPr/>
        </p:nvSpPr>
        <p:spPr>
          <a:xfrm>
            <a:off x="548640" y="1508760"/>
            <a:ext cx="5394960" cy="4754880"/>
          </a:xfrm>
          <a:prstGeom prst="roundRect">
            <a:avLst>
              <a:gd name="adj" fmla="val 1923"/>
            </a:avLst>
          </a:prstGeom>
          <a:solidFill>
            <a:srgbClr val="0B1E3D"/>
          </a:solidFill>
          <a:ln/>
          <a:effectLst>
            <a:outerShdw sx="100000" sy="100000" kx="0" ky="0" algn="bl" rotWithShape="0" blurRad="101600" dist="38100" dir="5400000">
              <a:srgbClr val="0B1E3D">
                <a:alpha val="25000"/>
              </a:srgbClr>
            </a:outerShdw>
          </a:effectLst>
        </p:spPr>
      </p:sp>
      <p:sp>
        <p:nvSpPr>
          <p:cNvPr id="5" name="Shape 3"/>
          <p:cNvSpPr/>
          <p:nvPr/>
        </p:nvSpPr>
        <p:spPr>
          <a:xfrm>
            <a:off x="822960" y="1783080"/>
            <a:ext cx="548640" cy="548640"/>
          </a:xfrm>
          <a:prstGeom prst="ellipse">
            <a:avLst/>
          </a:prstGeom>
          <a:solidFill>
            <a:srgbClr val="FF8C42"/>
          </a:solidFill>
          <a:ln/>
          <a:effectLst>
            <a:outerShdw sx="100000" sy="100000" kx="0" ky="0" algn="bl" rotWithShape="0" blurRad="101600" dist="38100" dir="5400000">
              <a:srgbClr val="0B1E3D">
                <a:alpha val="25000"/>
              </a:srgbClr>
            </a:outerShdw>
          </a:effectLst>
        </p:spPr>
      </p:sp>
      <p:pic>
        <p:nvPicPr>
          <p:cNvPr id="6" name="Image 0" descr="/home/claude/edge_cloud/icon_factory.png">    </p:cNvPr>
          <p:cNvPicPr>
            <a:picLocks noChangeAspect="1"/>
          </p:cNvPicPr>
          <p:nvPr/>
        </p:nvPicPr>
        <p:blipFill>
          <a:blip r:embed="rId1"/>
          <a:stretch>
            <a:fillRect/>
          </a:stretch>
        </p:blipFill>
        <p:spPr>
          <a:xfrm>
            <a:off x="894283" y="1854403"/>
            <a:ext cx="405994" cy="405994"/>
          </a:xfrm>
          <a:prstGeom prst="rect">
            <a:avLst/>
          </a:prstGeom>
        </p:spPr>
      </p:pic>
      <p:sp>
        <p:nvSpPr>
          <p:cNvPr id="7" name="Text 4"/>
          <p:cNvSpPr/>
          <p:nvPr/>
        </p:nvSpPr>
        <p:spPr>
          <a:xfrm>
            <a:off x="1554480" y="1874520"/>
            <a:ext cx="39319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Smart Manufacturing</a:t>
            </a:r>
            <a:endParaRPr lang="en-US" sz="1600" dirty="0"/>
          </a:p>
        </p:txBody>
      </p:sp>
      <p:sp>
        <p:nvSpPr>
          <p:cNvPr id="8" name="Text 5"/>
          <p:cNvSpPr/>
          <p:nvPr/>
        </p:nvSpPr>
        <p:spPr>
          <a:xfrm>
            <a:off x="822960" y="2514600"/>
            <a:ext cx="4846320" cy="1097280"/>
          </a:xfrm>
          <a:prstGeom prst="rect">
            <a:avLst/>
          </a:prstGeom>
          <a:noFill/>
          <a:ln/>
        </p:spPr>
        <p:txBody>
          <a:bodyPr wrap="square" rtlCol="0" anchor="ctr"/>
          <a:lstStyle/>
          <a:p>
            <a:pPr indent="0" marL="0">
              <a:lnSpc>
                <a:spcPct val="125000"/>
              </a:lnSpc>
              <a:buNone/>
            </a:pPr>
            <a:r>
              <a:rPr lang="en-US" sz="1150" dirty="0">
                <a:solidFill>
                  <a:srgbClr val="C9D6EC"/>
                </a:solidFill>
                <a:latin typeface="Calibri" pitchFamily="34" charset="0"/>
                <a:ea typeface="Calibri" pitchFamily="34" charset="-122"/>
                <a:cs typeface="Calibri" pitchFamily="34" charset="-120"/>
              </a:rPr>
              <a:t>Edge nodes on the factory floor run computer-vision quality inspection and predictive maintenance in real time, while the cloud aggregates fleet-wide data to retrain models and plan supply chains.</a:t>
            </a:r>
            <a:endParaRPr lang="en-US" sz="1150" dirty="0"/>
          </a:p>
        </p:txBody>
      </p:sp>
      <p:sp>
        <p:nvSpPr>
          <p:cNvPr id="9" name="Text 6"/>
          <p:cNvSpPr/>
          <p:nvPr/>
        </p:nvSpPr>
        <p:spPr>
          <a:xfrm>
            <a:off x="822960" y="3657600"/>
            <a:ext cx="4846320" cy="320040"/>
          </a:xfrm>
          <a:prstGeom prst="rect">
            <a:avLst/>
          </a:prstGeom>
          <a:noFill/>
          <a:ln/>
        </p:spPr>
        <p:txBody>
          <a:bodyPr wrap="square" rtlCol="0" anchor="ctr"/>
          <a:lstStyle/>
          <a:p>
            <a:pPr indent="0" marL="0">
              <a:buNone/>
            </a:pPr>
            <a:r>
              <a:rPr lang="en-US" sz="1050" i="1" dirty="0">
                <a:solidFill>
                  <a:srgbClr val="00D4FF"/>
                </a:solidFill>
                <a:latin typeface="Calibri" pitchFamily="34" charset="0"/>
                <a:ea typeface="Calibri" pitchFamily="34" charset="-122"/>
                <a:cs typeface="Calibri" pitchFamily="34" charset="-120"/>
              </a:rPr>
              <a:t>Paradigm mix:  Edge (line control)  +  Cloud (fleet analytics)</a:t>
            </a:r>
            <a:endParaRPr lang="en-US" sz="1050" dirty="0"/>
          </a:p>
        </p:txBody>
      </p:sp>
      <p:sp>
        <p:nvSpPr>
          <p:cNvPr id="10" name="Text 7"/>
          <p:cNvSpPr/>
          <p:nvPr/>
        </p:nvSpPr>
        <p:spPr>
          <a:xfrm>
            <a:off x="822960" y="4206240"/>
            <a:ext cx="1828800" cy="548640"/>
          </a:xfrm>
          <a:prstGeom prst="rect">
            <a:avLst/>
          </a:prstGeom>
          <a:noFill/>
          <a:ln/>
        </p:spPr>
        <p:txBody>
          <a:bodyPr wrap="square" rtlCol="0" anchor="ctr"/>
          <a:lstStyle/>
          <a:p>
            <a:pPr indent="0" marL="0">
              <a:buNone/>
            </a:pPr>
            <a:r>
              <a:rPr lang="en-US" sz="3000" b="1" dirty="0">
                <a:solidFill>
                  <a:srgbClr val="FF8C42"/>
                </a:solidFill>
                <a:latin typeface="Cambria" pitchFamily="34" charset="0"/>
                <a:ea typeface="Cambria" pitchFamily="34" charset="-122"/>
                <a:cs typeface="Cambria" pitchFamily="34" charset="-120"/>
              </a:rPr>
              <a:t>40%</a:t>
            </a:r>
            <a:endParaRPr lang="en-US" sz="3000" dirty="0"/>
          </a:p>
        </p:txBody>
      </p:sp>
      <p:sp>
        <p:nvSpPr>
          <p:cNvPr id="11" name="Text 8"/>
          <p:cNvSpPr/>
          <p:nvPr/>
        </p:nvSpPr>
        <p:spPr>
          <a:xfrm>
            <a:off x="822960" y="4800600"/>
            <a:ext cx="4846320" cy="822960"/>
          </a:xfrm>
          <a:prstGeom prst="rect">
            <a:avLst/>
          </a:prstGeom>
          <a:noFill/>
          <a:ln/>
        </p:spPr>
        <p:txBody>
          <a:bodyPr wrap="square" rtlCol="0" anchor="ctr"/>
          <a:lstStyle/>
          <a:p>
            <a:pPr indent="0" marL="0">
              <a:buNone/>
            </a:pPr>
            <a:r>
              <a:rPr lang="en-US" sz="1000" dirty="0">
                <a:solidFill>
                  <a:srgbClr val="8FA3C4"/>
                </a:solidFill>
                <a:latin typeface="Calibri" pitchFamily="34" charset="0"/>
                <a:ea typeface="Calibri" pitchFamily="34" charset="-122"/>
                <a:cs typeface="Calibri" pitchFamily="34" charset="-120"/>
              </a:rPr>
              <a:t>reduction in unplanned downtime reported by early industrial-edge adopters</a:t>
            </a:r>
            <a:endParaRPr lang="en-US" sz="1000" dirty="0"/>
          </a:p>
        </p:txBody>
      </p:sp>
      <p:sp>
        <p:nvSpPr>
          <p:cNvPr id="12" name="Shape 9"/>
          <p:cNvSpPr/>
          <p:nvPr/>
        </p:nvSpPr>
        <p:spPr>
          <a:xfrm>
            <a:off x="6217920" y="1508760"/>
            <a:ext cx="5394960" cy="4754880"/>
          </a:xfrm>
          <a:prstGeom prst="roundRect">
            <a:avLst>
              <a:gd name="adj" fmla="val 1923"/>
            </a:avLst>
          </a:prstGeom>
          <a:solidFill>
            <a:srgbClr val="0B1E3D"/>
          </a:solidFill>
          <a:ln/>
          <a:effectLst>
            <a:outerShdw sx="100000" sy="100000" kx="0" ky="0" algn="bl" rotWithShape="0" blurRad="101600" dist="38100" dir="5400000">
              <a:srgbClr val="0B1E3D">
                <a:alpha val="25000"/>
              </a:srgbClr>
            </a:outerShdw>
          </a:effectLst>
        </p:spPr>
      </p:sp>
      <p:sp>
        <p:nvSpPr>
          <p:cNvPr id="13" name="Shape 10"/>
          <p:cNvSpPr/>
          <p:nvPr/>
        </p:nvSpPr>
        <p:spPr>
          <a:xfrm>
            <a:off x="6492240" y="1783080"/>
            <a:ext cx="548640" cy="548640"/>
          </a:xfrm>
          <a:prstGeom prst="ellipse">
            <a:avLst/>
          </a:prstGeom>
          <a:solidFill>
            <a:srgbClr val="0090A8"/>
          </a:solidFill>
          <a:ln/>
          <a:effectLst>
            <a:outerShdw sx="100000" sy="100000" kx="0" ky="0" algn="bl" rotWithShape="0" blurRad="101600" dist="38100" dir="5400000">
              <a:srgbClr val="0B1E3D">
                <a:alpha val="25000"/>
              </a:srgbClr>
            </a:outerShdw>
          </a:effectLst>
        </p:spPr>
      </p:sp>
      <p:pic>
        <p:nvPicPr>
          <p:cNvPr id="14" name="Image 1" descr="/home/claude/edge_cloud/icon_heartbeat.png">    </p:cNvPr>
          <p:cNvPicPr>
            <a:picLocks noChangeAspect="1"/>
          </p:cNvPicPr>
          <p:nvPr/>
        </p:nvPicPr>
        <p:blipFill>
          <a:blip r:embed="rId2"/>
          <a:stretch>
            <a:fillRect/>
          </a:stretch>
        </p:blipFill>
        <p:spPr>
          <a:xfrm>
            <a:off x="6563563" y="1854403"/>
            <a:ext cx="405994" cy="405994"/>
          </a:xfrm>
          <a:prstGeom prst="rect">
            <a:avLst/>
          </a:prstGeom>
        </p:spPr>
      </p:pic>
      <p:sp>
        <p:nvSpPr>
          <p:cNvPr id="15" name="Text 11"/>
          <p:cNvSpPr/>
          <p:nvPr/>
        </p:nvSpPr>
        <p:spPr>
          <a:xfrm>
            <a:off x="7223760" y="1874520"/>
            <a:ext cx="39319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Connected Healthcare</a:t>
            </a:r>
            <a:endParaRPr lang="en-US" sz="1600" dirty="0"/>
          </a:p>
        </p:txBody>
      </p:sp>
      <p:sp>
        <p:nvSpPr>
          <p:cNvPr id="16" name="Text 12"/>
          <p:cNvSpPr/>
          <p:nvPr/>
        </p:nvSpPr>
        <p:spPr>
          <a:xfrm>
            <a:off x="6492240" y="2514600"/>
            <a:ext cx="4846320" cy="1097280"/>
          </a:xfrm>
          <a:prstGeom prst="rect">
            <a:avLst/>
          </a:prstGeom>
          <a:noFill/>
          <a:ln/>
        </p:spPr>
        <p:txBody>
          <a:bodyPr wrap="square" rtlCol="0" anchor="ctr"/>
          <a:lstStyle/>
          <a:p>
            <a:pPr indent="0" marL="0">
              <a:lnSpc>
                <a:spcPct val="125000"/>
              </a:lnSpc>
              <a:buNone/>
            </a:pPr>
            <a:r>
              <a:rPr lang="en-US" sz="1150" dirty="0">
                <a:solidFill>
                  <a:srgbClr val="C9D6EC"/>
                </a:solidFill>
                <a:latin typeface="Calibri" pitchFamily="34" charset="0"/>
                <a:ea typeface="Calibri" pitchFamily="34" charset="-122"/>
                <a:cs typeface="Calibri" pitchFamily="34" charset="-120"/>
              </a:rPr>
              <a:t>Bedside and wearable devices run edge inference to flag critical vitals within seconds, alerting staff before an event escalates, while the cloud securely stores longitudinal records for research and compliance reporting.</a:t>
            </a:r>
            <a:endParaRPr lang="en-US" sz="1150" dirty="0"/>
          </a:p>
        </p:txBody>
      </p:sp>
      <p:sp>
        <p:nvSpPr>
          <p:cNvPr id="17" name="Text 13"/>
          <p:cNvSpPr/>
          <p:nvPr/>
        </p:nvSpPr>
        <p:spPr>
          <a:xfrm>
            <a:off x="6492240" y="3657600"/>
            <a:ext cx="4846320" cy="320040"/>
          </a:xfrm>
          <a:prstGeom prst="rect">
            <a:avLst/>
          </a:prstGeom>
          <a:noFill/>
          <a:ln/>
        </p:spPr>
        <p:txBody>
          <a:bodyPr wrap="square" rtlCol="0" anchor="ctr"/>
          <a:lstStyle/>
          <a:p>
            <a:pPr indent="0" marL="0">
              <a:buNone/>
            </a:pPr>
            <a:r>
              <a:rPr lang="en-US" sz="1050" i="1" dirty="0">
                <a:solidFill>
                  <a:srgbClr val="00D4FF"/>
                </a:solidFill>
                <a:latin typeface="Calibri" pitchFamily="34" charset="0"/>
                <a:ea typeface="Calibri" pitchFamily="34" charset="-122"/>
                <a:cs typeface="Calibri" pitchFamily="34" charset="-120"/>
              </a:rPr>
              <a:t>Paradigm mix:  Edge (vital-sign alerts)  +  Cloud (records &amp; research)</a:t>
            </a:r>
            <a:endParaRPr lang="en-US" sz="1050" dirty="0"/>
          </a:p>
        </p:txBody>
      </p:sp>
      <p:sp>
        <p:nvSpPr>
          <p:cNvPr id="18" name="Text 14"/>
          <p:cNvSpPr/>
          <p:nvPr/>
        </p:nvSpPr>
        <p:spPr>
          <a:xfrm>
            <a:off x="6492240" y="4206240"/>
            <a:ext cx="1828800" cy="548640"/>
          </a:xfrm>
          <a:prstGeom prst="rect">
            <a:avLst/>
          </a:prstGeom>
          <a:noFill/>
          <a:ln/>
        </p:spPr>
        <p:txBody>
          <a:bodyPr wrap="square" rtlCol="0" anchor="ctr"/>
          <a:lstStyle/>
          <a:p>
            <a:pPr indent="0" marL="0">
              <a:buNone/>
            </a:pPr>
            <a:r>
              <a:rPr lang="en-US" sz="3000" b="1" dirty="0">
                <a:solidFill>
                  <a:srgbClr val="3FD3E8"/>
                </a:solidFill>
                <a:latin typeface="Cambria" pitchFamily="34" charset="0"/>
                <a:ea typeface="Cambria" pitchFamily="34" charset="-122"/>
                <a:cs typeface="Cambria" pitchFamily="34" charset="-120"/>
              </a:rPr>
              <a:t>&lt;1s</a:t>
            </a:r>
            <a:endParaRPr lang="en-US" sz="3000" dirty="0"/>
          </a:p>
        </p:txBody>
      </p:sp>
      <p:sp>
        <p:nvSpPr>
          <p:cNvPr id="19" name="Text 15"/>
          <p:cNvSpPr/>
          <p:nvPr/>
        </p:nvSpPr>
        <p:spPr>
          <a:xfrm>
            <a:off x="6492240" y="4800600"/>
            <a:ext cx="4846320" cy="822960"/>
          </a:xfrm>
          <a:prstGeom prst="rect">
            <a:avLst/>
          </a:prstGeom>
          <a:noFill/>
          <a:ln/>
        </p:spPr>
        <p:txBody>
          <a:bodyPr wrap="square" rtlCol="0" anchor="ctr"/>
          <a:lstStyle/>
          <a:p>
            <a:pPr indent="0" marL="0">
              <a:buNone/>
            </a:pPr>
            <a:r>
              <a:rPr lang="en-US" sz="1000" dirty="0">
                <a:solidFill>
                  <a:srgbClr val="8FA3C4"/>
                </a:solidFill>
                <a:latin typeface="Calibri" pitchFamily="34" charset="0"/>
                <a:ea typeface="Calibri" pitchFamily="34" charset="-122"/>
                <a:cs typeface="Calibri" pitchFamily="34" charset="-120"/>
              </a:rPr>
              <a:t>alert response time achievable with on-device physiological monitoring</a:t>
            </a:r>
            <a:endParaRPr lang="en-US" sz="1000" dirty="0"/>
          </a:p>
        </p:txBody>
      </p:sp>
      <p:sp>
        <p:nvSpPr>
          <p:cNvPr id="20" name="Text 16"/>
          <p:cNvSpPr/>
          <p:nvPr/>
        </p:nvSpPr>
        <p:spPr>
          <a:xfrm>
            <a:off x="457200" y="6537960"/>
            <a:ext cx="5486400" cy="274320"/>
          </a:xfrm>
          <a:prstGeom prst="rect">
            <a:avLst/>
          </a:prstGeom>
          <a:noFill/>
          <a:ln/>
        </p:spPr>
        <p:txBody>
          <a:bodyPr wrap="square" rtlCol="0" anchor="ctr"/>
          <a:lstStyle/>
          <a:p>
            <a:pPr indent="0" marL="0">
              <a:buNone/>
            </a:pPr>
            <a:r>
              <a:rPr lang="en-US" sz="900" i="1" dirty="0">
                <a:solidFill>
                  <a:srgbClr val="5B6B85"/>
                </a:solidFill>
                <a:latin typeface="Calibri" pitchFamily="34" charset="0"/>
                <a:ea typeface="Calibri" pitchFamily="34" charset="-122"/>
                <a:cs typeface="Calibri" pitchFamily="34" charset="-120"/>
              </a:rPr>
              <a:t>Edge vs Cloud Computing</a:t>
            </a:r>
            <a:endParaRPr lang="en-US" sz="900" dirty="0"/>
          </a:p>
        </p:txBody>
      </p:sp>
      <p:sp>
        <p:nvSpPr>
          <p:cNvPr id="21" name="Text 17"/>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rtlCol="0" anchor="ctr"/>
          <a:lstStyle/>
          <a:p>
            <a:pPr indent="0" marL="0">
              <a:buNone/>
            </a:pPr>
            <a:r>
              <a:rPr lang="en-US" sz="1200" b="1" spc="200" kern="0" dirty="0">
                <a:solidFill>
                  <a:srgbClr val="FF8C42"/>
                </a:solidFill>
                <a:latin typeface="Calibri" pitchFamily="34" charset="0"/>
                <a:ea typeface="Calibri" pitchFamily="34" charset="-122"/>
                <a:cs typeface="Calibri" pitchFamily="34" charset="-120"/>
              </a:rPr>
              <a:t>INDUSTRY ADOPTION · 02</a:t>
            </a:r>
            <a:endParaRPr lang="en-US" sz="1200" dirty="0"/>
          </a:p>
        </p:txBody>
      </p:sp>
      <p:sp>
        <p:nvSpPr>
          <p:cNvPr id="3" name="Text 1"/>
          <p:cNvSpPr/>
          <p:nvPr/>
        </p:nvSpPr>
        <p:spPr>
          <a:xfrm>
            <a:off x="548640" y="749808"/>
            <a:ext cx="91440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Autonomous Mobility &amp; Smart Cities</a:t>
            </a:r>
            <a:endParaRPr lang="en-US" sz="2800" dirty="0"/>
          </a:p>
        </p:txBody>
      </p:sp>
      <p:sp>
        <p:nvSpPr>
          <p:cNvPr id="4" name="Shape 2"/>
          <p:cNvSpPr/>
          <p:nvPr/>
        </p:nvSpPr>
        <p:spPr>
          <a:xfrm>
            <a:off x="548640" y="1508760"/>
            <a:ext cx="5394960" cy="4754880"/>
          </a:xfrm>
          <a:prstGeom prst="roundRect">
            <a:avLst>
              <a:gd name="adj" fmla="val 1923"/>
            </a:avLst>
          </a:prstGeom>
          <a:solidFill>
            <a:srgbClr val="0B1E3D"/>
          </a:solidFill>
          <a:ln/>
          <a:effectLst>
            <a:outerShdw sx="100000" sy="100000" kx="0" ky="0" algn="bl" rotWithShape="0" blurRad="101600" dist="38100" dir="5400000">
              <a:srgbClr val="0B1E3D">
                <a:alpha val="25000"/>
              </a:srgbClr>
            </a:outerShdw>
          </a:effectLst>
        </p:spPr>
      </p:sp>
      <p:sp>
        <p:nvSpPr>
          <p:cNvPr id="5" name="Shape 3"/>
          <p:cNvSpPr/>
          <p:nvPr/>
        </p:nvSpPr>
        <p:spPr>
          <a:xfrm>
            <a:off x="822960" y="1783080"/>
            <a:ext cx="548640" cy="548640"/>
          </a:xfrm>
          <a:prstGeom prst="ellipse">
            <a:avLst/>
          </a:prstGeom>
          <a:solidFill>
            <a:srgbClr val="FF8C42"/>
          </a:solidFill>
          <a:ln/>
          <a:effectLst>
            <a:outerShdw sx="100000" sy="100000" kx="0" ky="0" algn="bl" rotWithShape="0" blurRad="101600" dist="38100" dir="5400000">
              <a:srgbClr val="0B1E3D">
                <a:alpha val="25000"/>
              </a:srgbClr>
            </a:outerShdw>
          </a:effectLst>
        </p:spPr>
      </p:sp>
      <p:pic>
        <p:nvPicPr>
          <p:cNvPr id="6" name="Image 0" descr="/home/claude/edge_cloud/icon_car.png">    </p:cNvPr>
          <p:cNvPicPr>
            <a:picLocks noChangeAspect="1"/>
          </p:cNvPicPr>
          <p:nvPr/>
        </p:nvPicPr>
        <p:blipFill>
          <a:blip r:embed="rId1"/>
          <a:stretch>
            <a:fillRect/>
          </a:stretch>
        </p:blipFill>
        <p:spPr>
          <a:xfrm>
            <a:off x="894283" y="1854403"/>
            <a:ext cx="405994" cy="405994"/>
          </a:xfrm>
          <a:prstGeom prst="rect">
            <a:avLst/>
          </a:prstGeom>
        </p:spPr>
      </p:pic>
      <p:sp>
        <p:nvSpPr>
          <p:cNvPr id="7" name="Text 4"/>
          <p:cNvSpPr/>
          <p:nvPr/>
        </p:nvSpPr>
        <p:spPr>
          <a:xfrm>
            <a:off x="1554480" y="1828800"/>
            <a:ext cx="4023360" cy="5486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Autonomous &amp; Connected Vehicles</a:t>
            </a:r>
            <a:endParaRPr lang="en-US" sz="1500" dirty="0"/>
          </a:p>
        </p:txBody>
      </p:sp>
      <p:sp>
        <p:nvSpPr>
          <p:cNvPr id="8" name="Text 5"/>
          <p:cNvSpPr/>
          <p:nvPr/>
        </p:nvSpPr>
        <p:spPr>
          <a:xfrm>
            <a:off x="822960" y="2560320"/>
            <a:ext cx="4846320" cy="1188720"/>
          </a:xfrm>
          <a:prstGeom prst="rect">
            <a:avLst/>
          </a:prstGeom>
          <a:noFill/>
          <a:ln/>
        </p:spPr>
        <p:txBody>
          <a:bodyPr wrap="square" rtlCol="0" anchor="ctr"/>
          <a:lstStyle/>
          <a:p>
            <a:pPr indent="0" marL="0">
              <a:lnSpc>
                <a:spcPct val="125000"/>
              </a:lnSpc>
              <a:buNone/>
            </a:pPr>
            <a:r>
              <a:rPr lang="en-US" sz="1150" dirty="0">
                <a:solidFill>
                  <a:srgbClr val="C9D6EC"/>
                </a:solidFill>
                <a:latin typeface="Calibri" pitchFamily="34" charset="0"/>
                <a:ea typeface="Calibri" pitchFamily="34" charset="-122"/>
                <a:cs typeface="Calibri" pitchFamily="34" charset="-120"/>
              </a:rPr>
              <a:t>Onboard edge compute handles perception, path planning, and collision avoidance in milliseconds. The cloud contributes map updates, fleet coordination, and simulation-based training from aggregated driving data.</a:t>
            </a:r>
            <a:endParaRPr lang="en-US" sz="1150" dirty="0"/>
          </a:p>
        </p:txBody>
      </p:sp>
      <p:sp>
        <p:nvSpPr>
          <p:cNvPr id="9" name="Text 6"/>
          <p:cNvSpPr/>
          <p:nvPr/>
        </p:nvSpPr>
        <p:spPr>
          <a:xfrm>
            <a:off x="822960" y="3794760"/>
            <a:ext cx="4846320" cy="320040"/>
          </a:xfrm>
          <a:prstGeom prst="rect">
            <a:avLst/>
          </a:prstGeom>
          <a:noFill/>
          <a:ln/>
        </p:spPr>
        <p:txBody>
          <a:bodyPr wrap="square" rtlCol="0" anchor="ctr"/>
          <a:lstStyle/>
          <a:p>
            <a:pPr indent="0" marL="0">
              <a:buNone/>
            </a:pPr>
            <a:r>
              <a:rPr lang="en-US" sz="1050" i="1" dirty="0">
                <a:solidFill>
                  <a:srgbClr val="00D4FF"/>
                </a:solidFill>
                <a:latin typeface="Calibri" pitchFamily="34" charset="0"/>
                <a:ea typeface="Calibri" pitchFamily="34" charset="-122"/>
                <a:cs typeface="Calibri" pitchFamily="34" charset="-120"/>
              </a:rPr>
              <a:t>Paradigm mix:  Edge (real-time driving)  +  Cloud (maps &amp; fleet learning)</a:t>
            </a:r>
            <a:endParaRPr lang="en-US" sz="1050" dirty="0"/>
          </a:p>
        </p:txBody>
      </p:sp>
      <p:sp>
        <p:nvSpPr>
          <p:cNvPr id="10" name="Text 7"/>
          <p:cNvSpPr/>
          <p:nvPr/>
        </p:nvSpPr>
        <p:spPr>
          <a:xfrm>
            <a:off x="822960" y="4343400"/>
            <a:ext cx="2377440" cy="548640"/>
          </a:xfrm>
          <a:prstGeom prst="rect">
            <a:avLst/>
          </a:prstGeom>
          <a:noFill/>
          <a:ln/>
        </p:spPr>
        <p:txBody>
          <a:bodyPr wrap="square" rtlCol="0" anchor="ctr"/>
          <a:lstStyle/>
          <a:p>
            <a:pPr indent="0" marL="0">
              <a:buNone/>
            </a:pPr>
            <a:r>
              <a:rPr lang="en-US" sz="2600" b="1" dirty="0">
                <a:solidFill>
                  <a:srgbClr val="FF8C42"/>
                </a:solidFill>
                <a:latin typeface="Cambria" pitchFamily="34" charset="0"/>
                <a:ea typeface="Cambria" pitchFamily="34" charset="-122"/>
                <a:cs typeface="Cambria" pitchFamily="34" charset="-120"/>
              </a:rPr>
              <a:t>~100ms</a:t>
            </a:r>
            <a:endParaRPr lang="en-US" sz="2600" dirty="0"/>
          </a:p>
        </p:txBody>
      </p:sp>
      <p:sp>
        <p:nvSpPr>
          <p:cNvPr id="11" name="Text 8"/>
          <p:cNvSpPr/>
          <p:nvPr/>
        </p:nvSpPr>
        <p:spPr>
          <a:xfrm>
            <a:off x="822960" y="4892040"/>
            <a:ext cx="4846320" cy="822960"/>
          </a:xfrm>
          <a:prstGeom prst="rect">
            <a:avLst/>
          </a:prstGeom>
          <a:noFill/>
          <a:ln/>
        </p:spPr>
        <p:txBody>
          <a:bodyPr wrap="square" rtlCol="0" anchor="ctr"/>
          <a:lstStyle/>
          <a:p>
            <a:pPr indent="0" marL="0">
              <a:buNone/>
            </a:pPr>
            <a:r>
              <a:rPr lang="en-US" sz="1000" dirty="0">
                <a:solidFill>
                  <a:srgbClr val="8FA3C4"/>
                </a:solidFill>
                <a:latin typeface="Calibri" pitchFamily="34" charset="0"/>
                <a:ea typeface="Calibri" pitchFamily="34" charset="-122"/>
                <a:cs typeface="Calibri" pitchFamily="34" charset="-120"/>
              </a:rPr>
              <a:t>is roughly the outer limit for safe reaction time — far below typical cloud round trips</a:t>
            </a:r>
            <a:endParaRPr lang="en-US" sz="1000" dirty="0"/>
          </a:p>
        </p:txBody>
      </p:sp>
      <p:sp>
        <p:nvSpPr>
          <p:cNvPr id="12" name="Shape 9"/>
          <p:cNvSpPr/>
          <p:nvPr/>
        </p:nvSpPr>
        <p:spPr>
          <a:xfrm>
            <a:off x="6217920" y="1508760"/>
            <a:ext cx="5394960" cy="4754880"/>
          </a:xfrm>
          <a:prstGeom prst="roundRect">
            <a:avLst>
              <a:gd name="adj" fmla="val 1923"/>
            </a:avLst>
          </a:prstGeom>
          <a:solidFill>
            <a:srgbClr val="0B1E3D"/>
          </a:solidFill>
          <a:ln/>
          <a:effectLst>
            <a:outerShdw sx="100000" sy="100000" kx="0" ky="0" algn="bl" rotWithShape="0" blurRad="101600" dist="38100" dir="5400000">
              <a:srgbClr val="0B1E3D">
                <a:alpha val="25000"/>
              </a:srgbClr>
            </a:outerShdw>
          </a:effectLst>
        </p:spPr>
      </p:sp>
      <p:sp>
        <p:nvSpPr>
          <p:cNvPr id="13" name="Shape 10"/>
          <p:cNvSpPr/>
          <p:nvPr/>
        </p:nvSpPr>
        <p:spPr>
          <a:xfrm>
            <a:off x="6492240" y="1783080"/>
            <a:ext cx="548640" cy="548640"/>
          </a:xfrm>
          <a:prstGeom prst="ellipse">
            <a:avLst/>
          </a:prstGeom>
          <a:solidFill>
            <a:srgbClr val="0090A8"/>
          </a:solidFill>
          <a:ln/>
          <a:effectLst>
            <a:outerShdw sx="100000" sy="100000" kx="0" ky="0" algn="bl" rotWithShape="0" blurRad="101600" dist="38100" dir="5400000">
              <a:srgbClr val="0B1E3D">
                <a:alpha val="25000"/>
              </a:srgbClr>
            </a:outerShdw>
          </a:effectLst>
        </p:spPr>
      </p:sp>
      <p:pic>
        <p:nvPicPr>
          <p:cNvPr id="14" name="Image 1" descr="/home/claude/edge_cloud/icon_city.png">    </p:cNvPr>
          <p:cNvPicPr>
            <a:picLocks noChangeAspect="1"/>
          </p:cNvPicPr>
          <p:nvPr/>
        </p:nvPicPr>
        <p:blipFill>
          <a:blip r:embed="rId2"/>
          <a:stretch>
            <a:fillRect/>
          </a:stretch>
        </p:blipFill>
        <p:spPr>
          <a:xfrm>
            <a:off x="6563563" y="1854403"/>
            <a:ext cx="405994" cy="405994"/>
          </a:xfrm>
          <a:prstGeom prst="rect">
            <a:avLst/>
          </a:prstGeom>
        </p:spPr>
      </p:pic>
      <p:sp>
        <p:nvSpPr>
          <p:cNvPr id="15" name="Text 11"/>
          <p:cNvSpPr/>
          <p:nvPr/>
        </p:nvSpPr>
        <p:spPr>
          <a:xfrm>
            <a:off x="7223760" y="1874520"/>
            <a:ext cx="39319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Smart City Infrastructure</a:t>
            </a:r>
            <a:endParaRPr lang="en-US" sz="1600" dirty="0"/>
          </a:p>
        </p:txBody>
      </p:sp>
      <p:sp>
        <p:nvSpPr>
          <p:cNvPr id="16" name="Text 12"/>
          <p:cNvSpPr/>
          <p:nvPr/>
        </p:nvSpPr>
        <p:spPr>
          <a:xfrm>
            <a:off x="6492240" y="2514600"/>
            <a:ext cx="4846320" cy="1188720"/>
          </a:xfrm>
          <a:prstGeom prst="rect">
            <a:avLst/>
          </a:prstGeom>
          <a:noFill/>
          <a:ln/>
        </p:spPr>
        <p:txBody>
          <a:bodyPr wrap="square" rtlCol="0" anchor="ctr"/>
          <a:lstStyle/>
          <a:p>
            <a:pPr indent="0" marL="0">
              <a:lnSpc>
                <a:spcPct val="125000"/>
              </a:lnSpc>
              <a:buNone/>
            </a:pPr>
            <a:r>
              <a:rPr lang="en-US" sz="1150" dirty="0">
                <a:solidFill>
                  <a:srgbClr val="C9D6EC"/>
                </a:solidFill>
                <a:latin typeface="Calibri" pitchFamily="34" charset="0"/>
                <a:ea typeface="Calibri" pitchFamily="34" charset="-122"/>
                <a:cs typeface="Calibri" pitchFamily="34" charset="-120"/>
              </a:rPr>
              <a:t>Traffic signals, streetlights, and utility meters use local edge nodes to react to real conditions instantly. City-wide cloud platforms then optimize planning, billing, and long-term infrastructure investment.</a:t>
            </a:r>
            <a:endParaRPr lang="en-US" sz="1150" dirty="0"/>
          </a:p>
        </p:txBody>
      </p:sp>
      <p:sp>
        <p:nvSpPr>
          <p:cNvPr id="17" name="Text 13"/>
          <p:cNvSpPr/>
          <p:nvPr/>
        </p:nvSpPr>
        <p:spPr>
          <a:xfrm>
            <a:off x="6492240" y="3794760"/>
            <a:ext cx="4846320" cy="320040"/>
          </a:xfrm>
          <a:prstGeom prst="rect">
            <a:avLst/>
          </a:prstGeom>
          <a:noFill/>
          <a:ln/>
        </p:spPr>
        <p:txBody>
          <a:bodyPr wrap="square" rtlCol="0" anchor="ctr"/>
          <a:lstStyle/>
          <a:p>
            <a:pPr indent="0" marL="0">
              <a:buNone/>
            </a:pPr>
            <a:r>
              <a:rPr lang="en-US" sz="1050" i="1" dirty="0">
                <a:solidFill>
                  <a:srgbClr val="00D4FF"/>
                </a:solidFill>
                <a:latin typeface="Calibri" pitchFamily="34" charset="0"/>
                <a:ea typeface="Calibri" pitchFamily="34" charset="-122"/>
                <a:cs typeface="Calibri" pitchFamily="34" charset="-120"/>
              </a:rPr>
              <a:t>Paradigm mix:  Edge (signal control)  +  Cloud (city-wide optimization)</a:t>
            </a:r>
            <a:endParaRPr lang="en-US" sz="1050" dirty="0"/>
          </a:p>
        </p:txBody>
      </p:sp>
      <p:sp>
        <p:nvSpPr>
          <p:cNvPr id="18" name="Text 14"/>
          <p:cNvSpPr/>
          <p:nvPr/>
        </p:nvSpPr>
        <p:spPr>
          <a:xfrm>
            <a:off x="6492240" y="4343400"/>
            <a:ext cx="2377440" cy="548640"/>
          </a:xfrm>
          <a:prstGeom prst="rect">
            <a:avLst/>
          </a:prstGeom>
          <a:noFill/>
          <a:ln/>
        </p:spPr>
        <p:txBody>
          <a:bodyPr wrap="square" rtlCol="0" anchor="ctr"/>
          <a:lstStyle/>
          <a:p>
            <a:pPr indent="0" marL="0">
              <a:buNone/>
            </a:pPr>
            <a:r>
              <a:rPr lang="en-US" sz="2600" b="1" dirty="0">
                <a:solidFill>
                  <a:srgbClr val="3FD3E8"/>
                </a:solidFill>
                <a:latin typeface="Cambria" pitchFamily="34" charset="0"/>
                <a:ea typeface="Cambria" pitchFamily="34" charset="-122"/>
                <a:cs typeface="Cambria" pitchFamily="34" charset="-120"/>
              </a:rPr>
              <a:t>20-25%</a:t>
            </a:r>
            <a:endParaRPr lang="en-US" sz="2600" dirty="0"/>
          </a:p>
        </p:txBody>
      </p:sp>
      <p:sp>
        <p:nvSpPr>
          <p:cNvPr id="19" name="Text 15"/>
          <p:cNvSpPr/>
          <p:nvPr/>
        </p:nvSpPr>
        <p:spPr>
          <a:xfrm>
            <a:off x="6492240" y="4892040"/>
            <a:ext cx="4846320" cy="822960"/>
          </a:xfrm>
          <a:prstGeom prst="rect">
            <a:avLst/>
          </a:prstGeom>
          <a:noFill/>
          <a:ln/>
        </p:spPr>
        <p:txBody>
          <a:bodyPr wrap="square" rtlCol="0" anchor="ctr"/>
          <a:lstStyle/>
          <a:p>
            <a:pPr indent="0" marL="0">
              <a:buNone/>
            </a:pPr>
            <a:r>
              <a:rPr lang="en-US" sz="1000" dirty="0">
                <a:solidFill>
                  <a:srgbClr val="8FA3C4"/>
                </a:solidFill>
                <a:latin typeface="Calibri" pitchFamily="34" charset="0"/>
                <a:ea typeface="Calibri" pitchFamily="34" charset="-122"/>
                <a:cs typeface="Calibri" pitchFamily="34" charset="-120"/>
              </a:rPr>
              <a:t>typical reduction in traffic congestion from adaptive, edge-controlled signals</a:t>
            </a:r>
            <a:endParaRPr lang="en-US" sz="1000" dirty="0"/>
          </a:p>
        </p:txBody>
      </p:sp>
      <p:sp>
        <p:nvSpPr>
          <p:cNvPr id="20" name="Text 16"/>
          <p:cNvSpPr/>
          <p:nvPr/>
        </p:nvSpPr>
        <p:spPr>
          <a:xfrm>
            <a:off x="457200" y="6537960"/>
            <a:ext cx="5486400" cy="274320"/>
          </a:xfrm>
          <a:prstGeom prst="rect">
            <a:avLst/>
          </a:prstGeom>
          <a:noFill/>
          <a:ln/>
        </p:spPr>
        <p:txBody>
          <a:bodyPr wrap="square" rtlCol="0" anchor="ctr"/>
          <a:lstStyle/>
          <a:p>
            <a:pPr indent="0" marL="0">
              <a:buNone/>
            </a:pPr>
            <a:r>
              <a:rPr lang="en-US" sz="900" i="1" dirty="0">
                <a:solidFill>
                  <a:srgbClr val="5B6B85"/>
                </a:solidFill>
                <a:latin typeface="Calibri" pitchFamily="34" charset="0"/>
                <a:ea typeface="Calibri" pitchFamily="34" charset="-122"/>
                <a:cs typeface="Calibri" pitchFamily="34" charset="-120"/>
              </a:rPr>
              <a:t>Edge vs Cloud Computing</a:t>
            </a:r>
            <a:endParaRPr lang="en-US" sz="900" dirty="0"/>
          </a:p>
        </p:txBody>
      </p:sp>
      <p:sp>
        <p:nvSpPr>
          <p:cNvPr id="21" name="Text 17"/>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E3D"/>
        </a:solidFill>
      </p:bgPr>
    </p:bg>
    <p:spTree>
      <p:nvGrpSpPr>
        <p:cNvPr id="1" name=""/>
        <p:cNvGrpSpPr/>
        <p:nvPr/>
      </p:nvGrpSpPr>
      <p:grpSpPr>
        <a:xfrm>
          <a:off x="0" y="0"/>
          <a:ext cx="0" cy="0"/>
          <a:chOff x="0" y="0"/>
          <a:chExt cx="0" cy="0"/>
        </a:xfrm>
      </p:grpSpPr>
      <p:sp>
        <p:nvSpPr>
          <p:cNvPr id="2" name="Text 0"/>
          <p:cNvSpPr/>
          <p:nvPr/>
        </p:nvSpPr>
        <p:spPr>
          <a:xfrm>
            <a:off x="548640" y="137160"/>
            <a:ext cx="3657600" cy="320040"/>
          </a:xfrm>
          <a:prstGeom prst="rect">
            <a:avLst/>
          </a:prstGeom>
          <a:noFill/>
          <a:ln/>
        </p:spPr>
        <p:txBody>
          <a:bodyPr wrap="square" rtlCol="0" anchor="ctr"/>
          <a:lstStyle/>
          <a:p>
            <a:pPr indent="0" marL="0">
              <a:buNone/>
            </a:pPr>
            <a:r>
              <a:rPr lang="en-US" sz="1200" b="1" spc="200" kern="0" dirty="0">
                <a:solidFill>
                  <a:srgbClr val="00D4FF"/>
                </a:solidFill>
                <a:latin typeface="Calibri" pitchFamily="34" charset="0"/>
                <a:ea typeface="Calibri" pitchFamily="34" charset="-122"/>
                <a:cs typeface="Calibri" pitchFamily="34" charset="-120"/>
              </a:rPr>
              <a:t>THE MODERN ANSWER</a:t>
            </a:r>
            <a:endParaRPr lang="en-US" sz="1200" dirty="0"/>
          </a:p>
        </p:txBody>
      </p:sp>
      <p:sp>
        <p:nvSpPr>
          <p:cNvPr id="3" name="Text 1"/>
          <p:cNvSpPr/>
          <p:nvPr/>
        </p:nvSpPr>
        <p:spPr>
          <a:xfrm>
            <a:off x="548640" y="411480"/>
            <a:ext cx="73152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It's Rarely Either/Or</a:t>
            </a:r>
            <a:endParaRPr lang="en-US" sz="2800" dirty="0"/>
          </a:p>
        </p:txBody>
      </p:sp>
      <p:sp>
        <p:nvSpPr>
          <p:cNvPr id="4" name="Text 2"/>
          <p:cNvSpPr/>
          <p:nvPr/>
        </p:nvSpPr>
        <p:spPr>
          <a:xfrm>
            <a:off x="548640" y="868680"/>
            <a:ext cx="9601200" cy="365760"/>
          </a:xfrm>
          <a:prstGeom prst="rect">
            <a:avLst/>
          </a:prstGeom>
          <a:noFill/>
          <a:ln/>
        </p:spPr>
        <p:txBody>
          <a:bodyPr wrap="square" rtlCol="0" anchor="ctr"/>
          <a:lstStyle/>
          <a:p>
            <a:pPr indent="0" marL="0">
              <a:buNone/>
            </a:pPr>
            <a:r>
              <a:rPr lang="en-US" sz="1300" i="1" dirty="0">
                <a:solidFill>
                  <a:srgbClr val="C9D6EC"/>
                </a:solidFill>
                <a:latin typeface="Calibri" pitchFamily="34" charset="0"/>
                <a:ea typeface="Calibri" pitchFamily="34" charset="-122"/>
                <a:cs typeface="Calibri" pitchFamily="34" charset="-120"/>
              </a:rPr>
              <a:t>Most production systems today adopt a hybrid model — edge for immediacy, cloud for depth.</a:t>
            </a:r>
            <a:endParaRPr lang="en-US" sz="1300" dirty="0"/>
          </a:p>
        </p:txBody>
      </p:sp>
      <p:sp>
        <p:nvSpPr>
          <p:cNvPr id="5" name="Shape 3"/>
          <p:cNvSpPr/>
          <p:nvPr/>
        </p:nvSpPr>
        <p:spPr>
          <a:xfrm>
            <a:off x="548640" y="1920240"/>
            <a:ext cx="3291840" cy="4023360"/>
          </a:xfrm>
          <a:prstGeom prst="roundRect">
            <a:avLst>
              <a:gd name="adj" fmla="val 2778"/>
            </a:avLst>
          </a:prstGeom>
          <a:solidFill>
            <a:srgbClr val="13294B"/>
          </a:solidFill>
          <a:ln/>
        </p:spPr>
      </p:sp>
      <p:sp>
        <p:nvSpPr>
          <p:cNvPr id="6" name="Shape 4"/>
          <p:cNvSpPr/>
          <p:nvPr/>
        </p:nvSpPr>
        <p:spPr>
          <a:xfrm>
            <a:off x="1828800" y="2194560"/>
            <a:ext cx="731520" cy="731520"/>
          </a:xfrm>
          <a:prstGeom prst="ellipse">
            <a:avLst/>
          </a:prstGeom>
          <a:solidFill>
            <a:srgbClr val="24406B"/>
          </a:solidFill>
          <a:ln/>
          <a:effectLst>
            <a:outerShdw sx="100000" sy="100000" kx="0" ky="0" algn="bl" rotWithShape="0" blurRad="101600" dist="38100" dir="5400000">
              <a:srgbClr val="0B1E3D">
                <a:alpha val="25000"/>
              </a:srgbClr>
            </a:outerShdw>
          </a:effectLst>
        </p:spPr>
      </p:sp>
      <p:pic>
        <p:nvPicPr>
          <p:cNvPr id="7" name="Image 0" descr="/home/claude/edge_cloud/icon_chip.png">    </p:cNvPr>
          <p:cNvPicPr>
            <a:picLocks noChangeAspect="1"/>
          </p:cNvPicPr>
          <p:nvPr/>
        </p:nvPicPr>
        <p:blipFill>
          <a:blip r:embed="rId1"/>
          <a:stretch>
            <a:fillRect/>
          </a:stretch>
        </p:blipFill>
        <p:spPr>
          <a:xfrm>
            <a:off x="1923898" y="2289658"/>
            <a:ext cx="541325" cy="541325"/>
          </a:xfrm>
          <a:prstGeom prst="rect">
            <a:avLst/>
          </a:prstGeom>
        </p:spPr>
      </p:pic>
      <p:sp>
        <p:nvSpPr>
          <p:cNvPr id="8" name="Text 5"/>
          <p:cNvSpPr/>
          <p:nvPr/>
        </p:nvSpPr>
        <p:spPr>
          <a:xfrm>
            <a:off x="731520" y="3063240"/>
            <a:ext cx="292608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Devices &amp; Sensors</a:t>
            </a:r>
            <a:endParaRPr lang="en-US" sz="1400" dirty="0"/>
          </a:p>
        </p:txBody>
      </p:sp>
      <p:sp>
        <p:nvSpPr>
          <p:cNvPr id="9" name="Shape 6"/>
          <p:cNvSpPr/>
          <p:nvPr/>
        </p:nvSpPr>
        <p:spPr>
          <a:xfrm>
            <a:off x="822960" y="3621024"/>
            <a:ext cx="73152" cy="73152"/>
          </a:xfrm>
          <a:prstGeom prst="ellipse">
            <a:avLst/>
          </a:prstGeom>
          <a:solidFill>
            <a:srgbClr val="24406B"/>
          </a:solidFill>
          <a:ln/>
        </p:spPr>
      </p:sp>
      <p:sp>
        <p:nvSpPr>
          <p:cNvPr id="10" name="Text 7"/>
          <p:cNvSpPr/>
          <p:nvPr/>
        </p:nvSpPr>
        <p:spPr>
          <a:xfrm>
            <a:off x="1005840" y="3456432"/>
            <a:ext cx="2651760" cy="411480"/>
          </a:xfrm>
          <a:prstGeom prst="rect">
            <a:avLst/>
          </a:prstGeom>
          <a:noFill/>
          <a:ln/>
        </p:spPr>
        <p:txBody>
          <a:bodyPr wrap="square" rtlCol="0" anchor="ctr"/>
          <a:lstStyle/>
          <a:p>
            <a:pPr indent="0" marL="0">
              <a:buNone/>
            </a:pPr>
            <a:r>
              <a:rPr lang="en-US" sz="1050" dirty="0">
                <a:solidFill>
                  <a:srgbClr val="C9D6EC"/>
                </a:solidFill>
                <a:latin typeface="Calibri" pitchFamily="34" charset="0"/>
                <a:ea typeface="Calibri" pitchFamily="34" charset="-122"/>
                <a:cs typeface="Calibri" pitchFamily="34" charset="-120"/>
              </a:rPr>
              <a:t>Generate raw data</a:t>
            </a:r>
            <a:endParaRPr lang="en-US" sz="1050" dirty="0"/>
          </a:p>
        </p:txBody>
      </p:sp>
      <p:sp>
        <p:nvSpPr>
          <p:cNvPr id="11" name="Shape 8"/>
          <p:cNvSpPr/>
          <p:nvPr/>
        </p:nvSpPr>
        <p:spPr>
          <a:xfrm>
            <a:off x="822960" y="4187952"/>
            <a:ext cx="73152" cy="73152"/>
          </a:xfrm>
          <a:prstGeom prst="ellipse">
            <a:avLst/>
          </a:prstGeom>
          <a:solidFill>
            <a:srgbClr val="24406B"/>
          </a:solidFill>
          <a:ln/>
        </p:spPr>
      </p:sp>
      <p:sp>
        <p:nvSpPr>
          <p:cNvPr id="12" name="Text 9"/>
          <p:cNvSpPr/>
          <p:nvPr/>
        </p:nvSpPr>
        <p:spPr>
          <a:xfrm>
            <a:off x="1005840" y="4023360"/>
            <a:ext cx="2651760" cy="411480"/>
          </a:xfrm>
          <a:prstGeom prst="rect">
            <a:avLst/>
          </a:prstGeom>
          <a:noFill/>
          <a:ln/>
        </p:spPr>
        <p:txBody>
          <a:bodyPr wrap="square" rtlCol="0" anchor="ctr"/>
          <a:lstStyle/>
          <a:p>
            <a:pPr indent="0" marL="0">
              <a:buNone/>
            </a:pPr>
            <a:r>
              <a:rPr lang="en-US" sz="1050" dirty="0">
                <a:solidFill>
                  <a:srgbClr val="C9D6EC"/>
                </a:solidFill>
                <a:latin typeface="Calibri" pitchFamily="34" charset="0"/>
                <a:ea typeface="Calibri" pitchFamily="34" charset="-122"/>
                <a:cs typeface="Calibri" pitchFamily="34" charset="-120"/>
              </a:rPr>
              <a:t>Capture images, telemetry, vitals</a:t>
            </a:r>
            <a:endParaRPr lang="en-US" sz="1050" dirty="0"/>
          </a:p>
        </p:txBody>
      </p:sp>
      <p:sp>
        <p:nvSpPr>
          <p:cNvPr id="13" name="Shape 10"/>
          <p:cNvSpPr/>
          <p:nvPr/>
        </p:nvSpPr>
        <p:spPr>
          <a:xfrm>
            <a:off x="4160520" y="1920240"/>
            <a:ext cx="3566160" cy="4023360"/>
          </a:xfrm>
          <a:prstGeom prst="roundRect">
            <a:avLst>
              <a:gd name="adj" fmla="val 2564"/>
            </a:avLst>
          </a:prstGeom>
          <a:solidFill>
            <a:srgbClr val="13294B"/>
          </a:solidFill>
          <a:ln/>
        </p:spPr>
      </p:sp>
      <p:sp>
        <p:nvSpPr>
          <p:cNvPr id="14" name="Shape 11"/>
          <p:cNvSpPr/>
          <p:nvPr/>
        </p:nvSpPr>
        <p:spPr>
          <a:xfrm>
            <a:off x="5577840" y="2194560"/>
            <a:ext cx="731520" cy="731520"/>
          </a:xfrm>
          <a:prstGeom prst="ellipse">
            <a:avLst/>
          </a:prstGeom>
          <a:solidFill>
            <a:srgbClr val="0090A8"/>
          </a:solidFill>
          <a:ln/>
          <a:effectLst>
            <a:outerShdw sx="100000" sy="100000" kx="0" ky="0" algn="bl" rotWithShape="0" blurRad="101600" dist="38100" dir="5400000">
              <a:srgbClr val="0B1E3D">
                <a:alpha val="25000"/>
              </a:srgbClr>
            </a:outerShdw>
          </a:effectLst>
        </p:spPr>
      </p:sp>
      <p:pic>
        <p:nvPicPr>
          <p:cNvPr id="15" name="Image 1" descr="/home/claude/edge_cloud/icon_network.png">    </p:cNvPr>
          <p:cNvPicPr>
            <a:picLocks noChangeAspect="1"/>
          </p:cNvPicPr>
          <p:nvPr/>
        </p:nvPicPr>
        <p:blipFill>
          <a:blip r:embed="rId2"/>
          <a:stretch>
            <a:fillRect/>
          </a:stretch>
        </p:blipFill>
        <p:spPr>
          <a:xfrm>
            <a:off x="5672938" y="2289658"/>
            <a:ext cx="541325" cy="541325"/>
          </a:xfrm>
          <a:prstGeom prst="rect">
            <a:avLst/>
          </a:prstGeom>
        </p:spPr>
      </p:pic>
      <p:sp>
        <p:nvSpPr>
          <p:cNvPr id="16" name="Text 12"/>
          <p:cNvSpPr/>
          <p:nvPr/>
        </p:nvSpPr>
        <p:spPr>
          <a:xfrm>
            <a:off x="4343400" y="3063240"/>
            <a:ext cx="32004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Edge Layer</a:t>
            </a:r>
            <a:endParaRPr lang="en-US" sz="1400" dirty="0"/>
          </a:p>
        </p:txBody>
      </p:sp>
      <p:sp>
        <p:nvSpPr>
          <p:cNvPr id="17" name="Shape 13"/>
          <p:cNvSpPr/>
          <p:nvPr/>
        </p:nvSpPr>
        <p:spPr>
          <a:xfrm>
            <a:off x="4434840" y="3621024"/>
            <a:ext cx="73152" cy="73152"/>
          </a:xfrm>
          <a:prstGeom prst="ellipse">
            <a:avLst/>
          </a:prstGeom>
          <a:solidFill>
            <a:srgbClr val="0090A8"/>
          </a:solidFill>
          <a:ln/>
        </p:spPr>
      </p:sp>
      <p:sp>
        <p:nvSpPr>
          <p:cNvPr id="18" name="Text 14"/>
          <p:cNvSpPr/>
          <p:nvPr/>
        </p:nvSpPr>
        <p:spPr>
          <a:xfrm>
            <a:off x="4617720" y="3456432"/>
            <a:ext cx="2926080" cy="411480"/>
          </a:xfrm>
          <a:prstGeom prst="rect">
            <a:avLst/>
          </a:prstGeom>
          <a:noFill/>
          <a:ln/>
        </p:spPr>
        <p:txBody>
          <a:bodyPr wrap="square" rtlCol="0" anchor="ctr"/>
          <a:lstStyle/>
          <a:p>
            <a:pPr indent="0" marL="0">
              <a:buNone/>
            </a:pPr>
            <a:r>
              <a:rPr lang="en-US" sz="1050" dirty="0">
                <a:solidFill>
                  <a:srgbClr val="C9D6EC"/>
                </a:solidFill>
                <a:latin typeface="Calibri" pitchFamily="34" charset="0"/>
                <a:ea typeface="Calibri" pitchFamily="34" charset="-122"/>
                <a:cs typeface="Calibri" pitchFamily="34" charset="-120"/>
              </a:rPr>
              <a:t>Real-time inference &amp; control</a:t>
            </a:r>
            <a:endParaRPr lang="en-US" sz="1050" dirty="0"/>
          </a:p>
        </p:txBody>
      </p:sp>
      <p:sp>
        <p:nvSpPr>
          <p:cNvPr id="19" name="Shape 15"/>
          <p:cNvSpPr/>
          <p:nvPr/>
        </p:nvSpPr>
        <p:spPr>
          <a:xfrm>
            <a:off x="4434840" y="4187952"/>
            <a:ext cx="73152" cy="73152"/>
          </a:xfrm>
          <a:prstGeom prst="ellipse">
            <a:avLst/>
          </a:prstGeom>
          <a:solidFill>
            <a:srgbClr val="0090A8"/>
          </a:solidFill>
          <a:ln/>
        </p:spPr>
      </p:sp>
      <p:sp>
        <p:nvSpPr>
          <p:cNvPr id="20" name="Text 16"/>
          <p:cNvSpPr/>
          <p:nvPr/>
        </p:nvSpPr>
        <p:spPr>
          <a:xfrm>
            <a:off x="4617720" y="4023360"/>
            <a:ext cx="2926080" cy="411480"/>
          </a:xfrm>
          <a:prstGeom prst="rect">
            <a:avLst/>
          </a:prstGeom>
          <a:noFill/>
          <a:ln/>
        </p:spPr>
        <p:txBody>
          <a:bodyPr wrap="square" rtlCol="0" anchor="ctr"/>
          <a:lstStyle/>
          <a:p>
            <a:pPr indent="0" marL="0">
              <a:buNone/>
            </a:pPr>
            <a:r>
              <a:rPr lang="en-US" sz="1050" dirty="0">
                <a:solidFill>
                  <a:srgbClr val="C9D6EC"/>
                </a:solidFill>
                <a:latin typeface="Calibri" pitchFamily="34" charset="0"/>
                <a:ea typeface="Calibri" pitchFamily="34" charset="-122"/>
                <a:cs typeface="Calibri" pitchFamily="34" charset="-120"/>
              </a:rPr>
              <a:t>Local filtering &amp; aggregation</a:t>
            </a:r>
            <a:endParaRPr lang="en-US" sz="1050" dirty="0"/>
          </a:p>
        </p:txBody>
      </p:sp>
      <p:sp>
        <p:nvSpPr>
          <p:cNvPr id="21" name="Shape 17"/>
          <p:cNvSpPr/>
          <p:nvPr/>
        </p:nvSpPr>
        <p:spPr>
          <a:xfrm>
            <a:off x="4434840" y="4754880"/>
            <a:ext cx="73152" cy="73152"/>
          </a:xfrm>
          <a:prstGeom prst="ellipse">
            <a:avLst/>
          </a:prstGeom>
          <a:solidFill>
            <a:srgbClr val="0090A8"/>
          </a:solidFill>
          <a:ln/>
        </p:spPr>
      </p:sp>
      <p:sp>
        <p:nvSpPr>
          <p:cNvPr id="22" name="Text 18"/>
          <p:cNvSpPr/>
          <p:nvPr/>
        </p:nvSpPr>
        <p:spPr>
          <a:xfrm>
            <a:off x="4617720" y="4590288"/>
            <a:ext cx="2926080" cy="411480"/>
          </a:xfrm>
          <a:prstGeom prst="rect">
            <a:avLst/>
          </a:prstGeom>
          <a:noFill/>
          <a:ln/>
        </p:spPr>
        <p:txBody>
          <a:bodyPr wrap="square" rtlCol="0" anchor="ctr"/>
          <a:lstStyle/>
          <a:p>
            <a:pPr indent="0" marL="0">
              <a:buNone/>
            </a:pPr>
            <a:r>
              <a:rPr lang="en-US" sz="1050" dirty="0">
                <a:solidFill>
                  <a:srgbClr val="C9D6EC"/>
                </a:solidFill>
                <a:latin typeface="Calibri" pitchFamily="34" charset="0"/>
                <a:ea typeface="Calibri" pitchFamily="34" charset="-122"/>
                <a:cs typeface="Calibri" pitchFamily="34" charset="-120"/>
              </a:rPr>
              <a:t>Works offline</a:t>
            </a:r>
            <a:endParaRPr lang="en-US" sz="1050" dirty="0"/>
          </a:p>
        </p:txBody>
      </p:sp>
      <p:sp>
        <p:nvSpPr>
          <p:cNvPr id="23" name="Shape 19"/>
          <p:cNvSpPr/>
          <p:nvPr/>
        </p:nvSpPr>
        <p:spPr>
          <a:xfrm>
            <a:off x="8046720" y="1920240"/>
            <a:ext cx="3566160" cy="4023360"/>
          </a:xfrm>
          <a:prstGeom prst="roundRect">
            <a:avLst>
              <a:gd name="adj" fmla="val 2564"/>
            </a:avLst>
          </a:prstGeom>
          <a:solidFill>
            <a:srgbClr val="13294B"/>
          </a:solidFill>
          <a:ln/>
        </p:spPr>
      </p:sp>
      <p:sp>
        <p:nvSpPr>
          <p:cNvPr id="24" name="Shape 20"/>
          <p:cNvSpPr/>
          <p:nvPr/>
        </p:nvSpPr>
        <p:spPr>
          <a:xfrm>
            <a:off x="9464040" y="2194560"/>
            <a:ext cx="731520" cy="731520"/>
          </a:xfrm>
          <a:prstGeom prst="ellipse">
            <a:avLst/>
          </a:prstGeom>
          <a:solidFill>
            <a:srgbClr val="FF8C42"/>
          </a:solidFill>
          <a:ln/>
          <a:effectLst>
            <a:outerShdw sx="100000" sy="100000" kx="0" ky="0" algn="bl" rotWithShape="0" blurRad="101600" dist="38100" dir="5400000">
              <a:srgbClr val="0B1E3D">
                <a:alpha val="25000"/>
              </a:srgbClr>
            </a:outerShdw>
          </a:effectLst>
        </p:spPr>
      </p:sp>
      <p:pic>
        <p:nvPicPr>
          <p:cNvPr id="25" name="Image 2" descr="/home/claude/edge_cloud/icon_cloud.png">    </p:cNvPr>
          <p:cNvPicPr>
            <a:picLocks noChangeAspect="1"/>
          </p:cNvPicPr>
          <p:nvPr/>
        </p:nvPicPr>
        <p:blipFill>
          <a:blip r:embed="rId3"/>
          <a:stretch>
            <a:fillRect/>
          </a:stretch>
        </p:blipFill>
        <p:spPr>
          <a:xfrm>
            <a:off x="9559138" y="2289658"/>
            <a:ext cx="541325" cy="541325"/>
          </a:xfrm>
          <a:prstGeom prst="rect">
            <a:avLst/>
          </a:prstGeom>
        </p:spPr>
      </p:pic>
      <p:sp>
        <p:nvSpPr>
          <p:cNvPr id="26" name="Text 21"/>
          <p:cNvSpPr/>
          <p:nvPr/>
        </p:nvSpPr>
        <p:spPr>
          <a:xfrm>
            <a:off x="8229600" y="3063240"/>
            <a:ext cx="32004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Cloud Layer</a:t>
            </a:r>
            <a:endParaRPr lang="en-US" sz="1400" dirty="0"/>
          </a:p>
        </p:txBody>
      </p:sp>
      <p:sp>
        <p:nvSpPr>
          <p:cNvPr id="27" name="Shape 22"/>
          <p:cNvSpPr/>
          <p:nvPr/>
        </p:nvSpPr>
        <p:spPr>
          <a:xfrm>
            <a:off x="8321040" y="3621024"/>
            <a:ext cx="73152" cy="73152"/>
          </a:xfrm>
          <a:prstGeom prst="ellipse">
            <a:avLst/>
          </a:prstGeom>
          <a:solidFill>
            <a:srgbClr val="FF8C42"/>
          </a:solidFill>
          <a:ln/>
        </p:spPr>
      </p:sp>
      <p:sp>
        <p:nvSpPr>
          <p:cNvPr id="28" name="Text 23"/>
          <p:cNvSpPr/>
          <p:nvPr/>
        </p:nvSpPr>
        <p:spPr>
          <a:xfrm>
            <a:off x="8503920" y="3456432"/>
            <a:ext cx="2926080" cy="411480"/>
          </a:xfrm>
          <a:prstGeom prst="rect">
            <a:avLst/>
          </a:prstGeom>
          <a:noFill/>
          <a:ln/>
        </p:spPr>
        <p:txBody>
          <a:bodyPr wrap="square" rtlCol="0" anchor="ctr"/>
          <a:lstStyle/>
          <a:p>
            <a:pPr indent="0" marL="0">
              <a:buNone/>
            </a:pPr>
            <a:r>
              <a:rPr lang="en-US" sz="1050" dirty="0">
                <a:solidFill>
                  <a:srgbClr val="C9D6EC"/>
                </a:solidFill>
                <a:latin typeface="Calibri" pitchFamily="34" charset="0"/>
                <a:ea typeface="Calibri" pitchFamily="34" charset="-122"/>
                <a:cs typeface="Calibri" pitchFamily="34" charset="-120"/>
              </a:rPr>
              <a:t>Long-term storage</a:t>
            </a:r>
            <a:endParaRPr lang="en-US" sz="1050" dirty="0"/>
          </a:p>
        </p:txBody>
      </p:sp>
      <p:sp>
        <p:nvSpPr>
          <p:cNvPr id="29" name="Shape 24"/>
          <p:cNvSpPr/>
          <p:nvPr/>
        </p:nvSpPr>
        <p:spPr>
          <a:xfrm>
            <a:off x="8321040" y="4187952"/>
            <a:ext cx="73152" cy="73152"/>
          </a:xfrm>
          <a:prstGeom prst="ellipse">
            <a:avLst/>
          </a:prstGeom>
          <a:solidFill>
            <a:srgbClr val="FF8C42"/>
          </a:solidFill>
          <a:ln/>
        </p:spPr>
      </p:sp>
      <p:sp>
        <p:nvSpPr>
          <p:cNvPr id="30" name="Text 25"/>
          <p:cNvSpPr/>
          <p:nvPr/>
        </p:nvSpPr>
        <p:spPr>
          <a:xfrm>
            <a:off x="8503920" y="4023360"/>
            <a:ext cx="2926080" cy="411480"/>
          </a:xfrm>
          <a:prstGeom prst="rect">
            <a:avLst/>
          </a:prstGeom>
          <a:noFill/>
          <a:ln/>
        </p:spPr>
        <p:txBody>
          <a:bodyPr wrap="square" rtlCol="0" anchor="ctr"/>
          <a:lstStyle/>
          <a:p>
            <a:pPr indent="0" marL="0">
              <a:buNone/>
            </a:pPr>
            <a:r>
              <a:rPr lang="en-US" sz="1050" dirty="0">
                <a:solidFill>
                  <a:srgbClr val="C9D6EC"/>
                </a:solidFill>
                <a:latin typeface="Calibri" pitchFamily="34" charset="0"/>
                <a:ea typeface="Calibri" pitchFamily="34" charset="-122"/>
                <a:cs typeface="Calibri" pitchFamily="34" charset="-120"/>
              </a:rPr>
              <a:t>Model training &amp; analytics</a:t>
            </a:r>
            <a:endParaRPr lang="en-US" sz="1050" dirty="0"/>
          </a:p>
        </p:txBody>
      </p:sp>
      <p:sp>
        <p:nvSpPr>
          <p:cNvPr id="31" name="Shape 26"/>
          <p:cNvSpPr/>
          <p:nvPr/>
        </p:nvSpPr>
        <p:spPr>
          <a:xfrm>
            <a:off x="8321040" y="4754880"/>
            <a:ext cx="73152" cy="73152"/>
          </a:xfrm>
          <a:prstGeom prst="ellipse">
            <a:avLst/>
          </a:prstGeom>
          <a:solidFill>
            <a:srgbClr val="FF8C42"/>
          </a:solidFill>
          <a:ln/>
        </p:spPr>
      </p:sp>
      <p:sp>
        <p:nvSpPr>
          <p:cNvPr id="32" name="Text 27"/>
          <p:cNvSpPr/>
          <p:nvPr/>
        </p:nvSpPr>
        <p:spPr>
          <a:xfrm>
            <a:off x="8503920" y="4590288"/>
            <a:ext cx="2926080" cy="411480"/>
          </a:xfrm>
          <a:prstGeom prst="rect">
            <a:avLst/>
          </a:prstGeom>
          <a:noFill/>
          <a:ln/>
        </p:spPr>
        <p:txBody>
          <a:bodyPr wrap="square" rtlCol="0" anchor="ctr"/>
          <a:lstStyle/>
          <a:p>
            <a:pPr indent="0" marL="0">
              <a:buNone/>
            </a:pPr>
            <a:r>
              <a:rPr lang="en-US" sz="1050" dirty="0">
                <a:solidFill>
                  <a:srgbClr val="C9D6EC"/>
                </a:solidFill>
                <a:latin typeface="Calibri" pitchFamily="34" charset="0"/>
                <a:ea typeface="Calibri" pitchFamily="34" charset="-122"/>
                <a:cs typeface="Calibri" pitchFamily="34" charset="-120"/>
              </a:rPr>
              <a:t>Cross-site coordination</a:t>
            </a:r>
            <a:endParaRPr lang="en-US" sz="1050" dirty="0"/>
          </a:p>
        </p:txBody>
      </p:sp>
      <p:sp>
        <p:nvSpPr>
          <p:cNvPr id="33" name="Shape 28"/>
          <p:cNvSpPr/>
          <p:nvPr/>
        </p:nvSpPr>
        <p:spPr>
          <a:xfrm>
            <a:off x="3840480" y="3931920"/>
            <a:ext cx="320040" cy="0"/>
          </a:xfrm>
          <a:prstGeom prst="line">
            <a:avLst/>
          </a:prstGeom>
          <a:noFill/>
          <a:ln w="25400">
            <a:solidFill>
              <a:srgbClr val="00D4FF"/>
            </a:solidFill>
            <a:prstDash val="solid"/>
            <a:tailEnd type="triangle"/>
          </a:ln>
        </p:spPr>
      </p:sp>
      <p:sp>
        <p:nvSpPr>
          <p:cNvPr id="34" name="Shape 29"/>
          <p:cNvSpPr/>
          <p:nvPr/>
        </p:nvSpPr>
        <p:spPr>
          <a:xfrm>
            <a:off x="7726680" y="3931920"/>
            <a:ext cx="320040" cy="0"/>
          </a:xfrm>
          <a:prstGeom prst="line">
            <a:avLst/>
          </a:prstGeom>
          <a:noFill/>
          <a:ln w="25400">
            <a:solidFill>
              <a:srgbClr val="00D4FF"/>
            </a:solidFill>
            <a:prstDash val="solid"/>
            <a:tailEnd type="triangle"/>
          </a:ln>
        </p:spPr>
      </p:sp>
      <p:sp>
        <p:nvSpPr>
          <p:cNvPr id="35" name="Text 30"/>
          <p:cNvSpPr/>
          <p:nvPr/>
        </p:nvSpPr>
        <p:spPr>
          <a:xfrm>
            <a:off x="457200" y="6537960"/>
            <a:ext cx="5486400" cy="274320"/>
          </a:xfrm>
          <a:prstGeom prst="rect">
            <a:avLst/>
          </a:prstGeom>
          <a:noFill/>
          <a:ln/>
        </p:spPr>
        <p:txBody>
          <a:bodyPr wrap="square" rtlCol="0" anchor="ctr"/>
          <a:lstStyle/>
          <a:p>
            <a:pPr indent="0" marL="0">
              <a:buNone/>
            </a:pPr>
            <a:r>
              <a:rPr lang="en-US" sz="900" i="1" dirty="0">
                <a:solidFill>
                  <a:srgbClr val="8FA3C4"/>
                </a:solidFill>
                <a:latin typeface="Calibri" pitchFamily="34" charset="0"/>
                <a:ea typeface="Calibri" pitchFamily="34" charset="-122"/>
                <a:cs typeface="Calibri" pitchFamily="34" charset="-120"/>
              </a:rPr>
              <a:t>Edge vs Cloud Computing</a:t>
            </a:r>
            <a:endParaRPr lang="en-US" sz="900" dirty="0"/>
          </a:p>
        </p:txBody>
      </p:sp>
      <p:sp>
        <p:nvSpPr>
          <p:cNvPr id="36" name="Text 31"/>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8FA3C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137160"/>
            <a:ext cx="3657600" cy="320040"/>
          </a:xfrm>
          <a:prstGeom prst="rect">
            <a:avLst/>
          </a:prstGeom>
          <a:noFill/>
          <a:ln/>
        </p:spPr>
        <p:txBody>
          <a:bodyPr wrap="square" rtlCol="0" anchor="ctr"/>
          <a:lstStyle/>
          <a:p>
            <a:pPr indent="0" marL="0">
              <a:buNone/>
            </a:pPr>
            <a:r>
              <a:rPr lang="en-US" sz="1200" b="1" spc="200" kern="0" dirty="0">
                <a:solidFill>
                  <a:srgbClr val="FF8C42"/>
                </a:solidFill>
                <a:latin typeface="Calibri" pitchFamily="34" charset="0"/>
                <a:ea typeface="Calibri" pitchFamily="34" charset="-122"/>
                <a:cs typeface="Calibri" pitchFamily="34" charset="-120"/>
              </a:rPr>
              <a:t>DECISION FRAMEWORK</a:t>
            </a:r>
            <a:endParaRPr lang="en-US" sz="1200" dirty="0"/>
          </a:p>
        </p:txBody>
      </p:sp>
      <p:sp>
        <p:nvSpPr>
          <p:cNvPr id="3" name="Text 1"/>
          <p:cNvSpPr/>
          <p:nvPr/>
        </p:nvSpPr>
        <p:spPr>
          <a:xfrm>
            <a:off x="548640" y="457200"/>
            <a:ext cx="82296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Choosing the Right Paradigm</a:t>
            </a:r>
            <a:endParaRPr lang="en-US" sz="2800" dirty="0"/>
          </a:p>
        </p:txBody>
      </p:sp>
      <p:sp>
        <p:nvSpPr>
          <p:cNvPr id="4" name="Text 2"/>
          <p:cNvSpPr/>
          <p:nvPr/>
        </p:nvSpPr>
        <p:spPr>
          <a:xfrm>
            <a:off x="548640" y="960120"/>
            <a:ext cx="9601200" cy="365760"/>
          </a:xfrm>
          <a:prstGeom prst="rect">
            <a:avLst/>
          </a:prstGeom>
          <a:noFill/>
          <a:ln/>
        </p:spPr>
        <p:txBody>
          <a:bodyPr wrap="square" rtlCol="0" anchor="ctr"/>
          <a:lstStyle/>
          <a:p>
            <a:pPr indent="0" marL="0">
              <a:buNone/>
            </a:pPr>
            <a:r>
              <a:rPr lang="en-US" sz="1250" i="1" dirty="0">
                <a:solidFill>
                  <a:srgbClr val="5B6B85"/>
                </a:solidFill>
                <a:latin typeface="Calibri" pitchFamily="34" charset="0"/>
                <a:ea typeface="Calibri" pitchFamily="34" charset="-122"/>
                <a:cs typeface="Calibri" pitchFamily="34" charset="-120"/>
              </a:rPr>
              <a:t>Ask these questions about your workload before committing to an architecture.</a:t>
            </a:r>
            <a:endParaRPr lang="en-US" sz="1250" dirty="0"/>
          </a:p>
        </p:txBody>
      </p:sp>
      <p:sp>
        <p:nvSpPr>
          <p:cNvPr id="5" name="Shape 3"/>
          <p:cNvSpPr/>
          <p:nvPr/>
        </p:nvSpPr>
        <p:spPr>
          <a:xfrm>
            <a:off x="548640" y="1508760"/>
            <a:ext cx="5440680" cy="1572768"/>
          </a:xfrm>
          <a:prstGeom prst="roundRect">
            <a:avLst>
              <a:gd name="adj" fmla="val 4651"/>
            </a:avLst>
          </a:prstGeom>
          <a:solidFill>
            <a:srgbClr val="FFFFFF"/>
          </a:solidFill>
          <a:ln w="12700">
            <a:solidFill>
              <a:srgbClr val="E3E9F2"/>
            </a:solidFill>
            <a:prstDash val="solid"/>
          </a:ln>
          <a:effectLst>
            <a:outerShdw sx="100000" sy="100000" kx="0" ky="0" algn="bl" rotWithShape="0" blurRad="101600" dist="38100" dir="5400000">
              <a:srgbClr val="0B1E3D">
                <a:alpha val="8000"/>
              </a:srgbClr>
            </a:outerShdw>
          </a:effectLst>
        </p:spPr>
      </p:sp>
      <p:sp>
        <p:nvSpPr>
          <p:cNvPr id="6" name="Shape 4"/>
          <p:cNvSpPr/>
          <p:nvPr/>
        </p:nvSpPr>
        <p:spPr>
          <a:xfrm>
            <a:off x="731520" y="1691640"/>
            <a:ext cx="457200" cy="457200"/>
          </a:xfrm>
          <a:prstGeom prst="ellipse">
            <a:avLst/>
          </a:prstGeom>
          <a:solidFill>
            <a:srgbClr val="0090A8"/>
          </a:solidFill>
          <a:ln/>
          <a:effectLst>
            <a:outerShdw sx="100000" sy="100000" kx="0" ky="0" algn="bl" rotWithShape="0" blurRad="101600" dist="38100" dir="5400000">
              <a:srgbClr val="0B1E3D">
                <a:alpha val="25000"/>
              </a:srgbClr>
            </a:outerShdw>
          </a:effectLst>
        </p:spPr>
      </p:sp>
      <p:pic>
        <p:nvPicPr>
          <p:cNvPr id="7" name="Image 0" descr="/home/claude/edge_cloud/icon_tachometer.png">    </p:cNvPr>
          <p:cNvPicPr>
            <a:picLocks noChangeAspect="1"/>
          </p:cNvPicPr>
          <p:nvPr/>
        </p:nvPicPr>
        <p:blipFill>
          <a:blip r:embed="rId1"/>
          <a:stretch>
            <a:fillRect/>
          </a:stretch>
        </p:blipFill>
        <p:spPr>
          <a:xfrm>
            <a:off x="790956" y="1751076"/>
            <a:ext cx="338328" cy="338328"/>
          </a:xfrm>
          <a:prstGeom prst="rect">
            <a:avLst/>
          </a:prstGeom>
        </p:spPr>
      </p:pic>
      <p:sp>
        <p:nvSpPr>
          <p:cNvPr id="8" name="Text 5"/>
          <p:cNvSpPr/>
          <p:nvPr/>
        </p:nvSpPr>
        <p:spPr>
          <a:xfrm>
            <a:off x="1325880" y="1645920"/>
            <a:ext cx="4480560" cy="45720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How time-sensitive is the decision?</a:t>
            </a:r>
            <a:endParaRPr lang="en-US" sz="1250" dirty="0"/>
          </a:p>
        </p:txBody>
      </p:sp>
      <p:sp>
        <p:nvSpPr>
          <p:cNvPr id="9" name="Text 6"/>
          <p:cNvSpPr/>
          <p:nvPr/>
        </p:nvSpPr>
        <p:spPr>
          <a:xfrm>
            <a:off x="1325880" y="2075688"/>
            <a:ext cx="4480560" cy="91440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Sub-50ms control loop → lean edge.  Batch/overnight analysis → cloud is fine.</a:t>
            </a:r>
            <a:endParaRPr lang="en-US" sz="1000" dirty="0"/>
          </a:p>
        </p:txBody>
      </p:sp>
      <p:sp>
        <p:nvSpPr>
          <p:cNvPr id="10" name="Shape 7"/>
          <p:cNvSpPr/>
          <p:nvPr/>
        </p:nvSpPr>
        <p:spPr>
          <a:xfrm>
            <a:off x="6263640" y="1508760"/>
            <a:ext cx="5440680" cy="1572768"/>
          </a:xfrm>
          <a:prstGeom prst="roundRect">
            <a:avLst>
              <a:gd name="adj" fmla="val 4651"/>
            </a:avLst>
          </a:prstGeom>
          <a:solidFill>
            <a:srgbClr val="FFFFFF"/>
          </a:solidFill>
          <a:ln w="12700">
            <a:solidFill>
              <a:srgbClr val="E3E9F2"/>
            </a:solidFill>
            <a:prstDash val="solid"/>
          </a:ln>
          <a:effectLst>
            <a:outerShdw sx="100000" sy="100000" kx="0" ky="0" algn="bl" rotWithShape="0" blurRad="101600" dist="38100" dir="5400000">
              <a:srgbClr val="0B1E3D">
                <a:alpha val="8000"/>
              </a:srgbClr>
            </a:outerShdw>
          </a:effectLst>
        </p:spPr>
      </p:sp>
      <p:sp>
        <p:nvSpPr>
          <p:cNvPr id="11" name="Shape 8"/>
          <p:cNvSpPr/>
          <p:nvPr/>
        </p:nvSpPr>
        <p:spPr>
          <a:xfrm>
            <a:off x="6446520" y="1691640"/>
            <a:ext cx="457200" cy="457200"/>
          </a:xfrm>
          <a:prstGeom prst="ellipse">
            <a:avLst/>
          </a:prstGeom>
          <a:solidFill>
            <a:srgbClr val="0090A8"/>
          </a:solidFill>
          <a:ln/>
          <a:effectLst>
            <a:outerShdw sx="100000" sy="100000" kx="0" ky="0" algn="bl" rotWithShape="0" blurRad="101600" dist="38100" dir="5400000">
              <a:srgbClr val="0B1E3D">
                <a:alpha val="25000"/>
              </a:srgbClr>
            </a:outerShdw>
          </a:effectLst>
        </p:spPr>
      </p:sp>
      <p:pic>
        <p:nvPicPr>
          <p:cNvPr id="12" name="Image 1" descr="/home/claude/edge_cloud/icon_wifi.png">    </p:cNvPr>
          <p:cNvPicPr>
            <a:picLocks noChangeAspect="1"/>
          </p:cNvPicPr>
          <p:nvPr/>
        </p:nvPicPr>
        <p:blipFill>
          <a:blip r:embed="rId2"/>
          <a:stretch>
            <a:fillRect/>
          </a:stretch>
        </p:blipFill>
        <p:spPr>
          <a:xfrm>
            <a:off x="6505956" y="1751076"/>
            <a:ext cx="338328" cy="338328"/>
          </a:xfrm>
          <a:prstGeom prst="rect">
            <a:avLst/>
          </a:prstGeom>
        </p:spPr>
      </p:pic>
      <p:sp>
        <p:nvSpPr>
          <p:cNvPr id="13" name="Text 9"/>
          <p:cNvSpPr/>
          <p:nvPr/>
        </p:nvSpPr>
        <p:spPr>
          <a:xfrm>
            <a:off x="7040880" y="1645920"/>
            <a:ext cx="4480560" cy="45720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Is connectivity reliable at the site?</a:t>
            </a:r>
            <a:endParaRPr lang="en-US" sz="1250" dirty="0"/>
          </a:p>
        </p:txBody>
      </p:sp>
      <p:sp>
        <p:nvSpPr>
          <p:cNvPr id="14" name="Text 10"/>
          <p:cNvSpPr/>
          <p:nvPr/>
        </p:nvSpPr>
        <p:spPr>
          <a:xfrm>
            <a:off x="7040880" y="2075688"/>
            <a:ext cx="4480560" cy="91440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Remote or intermittent networks favor local edge processing that can't stall.</a:t>
            </a:r>
            <a:endParaRPr lang="en-US" sz="1000" dirty="0"/>
          </a:p>
        </p:txBody>
      </p:sp>
      <p:sp>
        <p:nvSpPr>
          <p:cNvPr id="15" name="Shape 11"/>
          <p:cNvSpPr/>
          <p:nvPr/>
        </p:nvSpPr>
        <p:spPr>
          <a:xfrm>
            <a:off x="548640" y="3282696"/>
            <a:ext cx="5440680" cy="1572768"/>
          </a:xfrm>
          <a:prstGeom prst="roundRect">
            <a:avLst>
              <a:gd name="adj" fmla="val 4651"/>
            </a:avLst>
          </a:prstGeom>
          <a:solidFill>
            <a:srgbClr val="FFFFFF"/>
          </a:solidFill>
          <a:ln w="12700">
            <a:solidFill>
              <a:srgbClr val="E3E9F2"/>
            </a:solidFill>
            <a:prstDash val="solid"/>
          </a:ln>
          <a:effectLst>
            <a:outerShdw sx="100000" sy="100000" kx="0" ky="0" algn="bl" rotWithShape="0" blurRad="101600" dist="38100" dir="5400000">
              <a:srgbClr val="0B1E3D">
                <a:alpha val="8000"/>
              </a:srgbClr>
            </a:outerShdw>
          </a:effectLst>
        </p:spPr>
      </p:sp>
      <p:sp>
        <p:nvSpPr>
          <p:cNvPr id="16" name="Shape 12"/>
          <p:cNvSpPr/>
          <p:nvPr/>
        </p:nvSpPr>
        <p:spPr>
          <a:xfrm>
            <a:off x="731520" y="3465576"/>
            <a:ext cx="457200" cy="457200"/>
          </a:xfrm>
          <a:prstGeom prst="ellipse">
            <a:avLst/>
          </a:prstGeom>
          <a:solidFill>
            <a:srgbClr val="0B1E3D"/>
          </a:solidFill>
          <a:ln/>
          <a:effectLst>
            <a:outerShdw sx="100000" sy="100000" kx="0" ky="0" algn="bl" rotWithShape="0" blurRad="101600" dist="38100" dir="5400000">
              <a:srgbClr val="0B1E3D">
                <a:alpha val="25000"/>
              </a:srgbClr>
            </a:outerShdw>
          </a:effectLst>
        </p:spPr>
      </p:sp>
      <p:pic>
        <p:nvPicPr>
          <p:cNvPr id="17" name="Image 2" descr="/home/claude/edge_cloud/icon_dollar.png">    </p:cNvPr>
          <p:cNvPicPr>
            <a:picLocks noChangeAspect="1"/>
          </p:cNvPicPr>
          <p:nvPr/>
        </p:nvPicPr>
        <p:blipFill>
          <a:blip r:embed="rId3"/>
          <a:stretch>
            <a:fillRect/>
          </a:stretch>
        </p:blipFill>
        <p:spPr>
          <a:xfrm>
            <a:off x="790956" y="3525012"/>
            <a:ext cx="338328" cy="338328"/>
          </a:xfrm>
          <a:prstGeom prst="rect">
            <a:avLst/>
          </a:prstGeom>
        </p:spPr>
      </p:pic>
      <p:sp>
        <p:nvSpPr>
          <p:cNvPr id="18" name="Text 13"/>
          <p:cNvSpPr/>
          <p:nvPr/>
        </p:nvSpPr>
        <p:spPr>
          <a:xfrm>
            <a:off x="1325880" y="3419856"/>
            <a:ext cx="4480560" cy="45720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What's the budget shape?</a:t>
            </a:r>
            <a:endParaRPr lang="en-US" sz="1250" dirty="0"/>
          </a:p>
        </p:txBody>
      </p:sp>
      <p:sp>
        <p:nvSpPr>
          <p:cNvPr id="19" name="Text 14"/>
          <p:cNvSpPr/>
          <p:nvPr/>
        </p:nvSpPr>
        <p:spPr>
          <a:xfrm>
            <a:off x="1325880" y="3849624"/>
            <a:ext cx="4480560" cy="91440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Cloud favors opex/subscription; edge requires upfront hardware investment per site.</a:t>
            </a:r>
            <a:endParaRPr lang="en-US" sz="1000" dirty="0"/>
          </a:p>
        </p:txBody>
      </p:sp>
      <p:sp>
        <p:nvSpPr>
          <p:cNvPr id="20" name="Shape 15"/>
          <p:cNvSpPr/>
          <p:nvPr/>
        </p:nvSpPr>
        <p:spPr>
          <a:xfrm>
            <a:off x="6263640" y="3282696"/>
            <a:ext cx="5440680" cy="1572768"/>
          </a:xfrm>
          <a:prstGeom prst="roundRect">
            <a:avLst>
              <a:gd name="adj" fmla="val 4651"/>
            </a:avLst>
          </a:prstGeom>
          <a:solidFill>
            <a:srgbClr val="FFFFFF"/>
          </a:solidFill>
          <a:ln w="12700">
            <a:solidFill>
              <a:srgbClr val="E3E9F2"/>
            </a:solidFill>
            <a:prstDash val="solid"/>
          </a:ln>
          <a:effectLst>
            <a:outerShdw sx="100000" sy="100000" kx="0" ky="0" algn="bl" rotWithShape="0" blurRad="101600" dist="38100" dir="5400000">
              <a:srgbClr val="0B1E3D">
                <a:alpha val="8000"/>
              </a:srgbClr>
            </a:outerShdw>
          </a:effectLst>
        </p:spPr>
      </p:sp>
      <p:sp>
        <p:nvSpPr>
          <p:cNvPr id="21" name="Shape 16"/>
          <p:cNvSpPr/>
          <p:nvPr/>
        </p:nvSpPr>
        <p:spPr>
          <a:xfrm>
            <a:off x="6446520" y="3465576"/>
            <a:ext cx="457200" cy="457200"/>
          </a:xfrm>
          <a:prstGeom prst="ellipse">
            <a:avLst/>
          </a:prstGeom>
          <a:solidFill>
            <a:srgbClr val="0B1E3D"/>
          </a:solidFill>
          <a:ln/>
          <a:effectLst>
            <a:outerShdw sx="100000" sy="100000" kx="0" ky="0" algn="bl" rotWithShape="0" blurRad="101600" dist="38100" dir="5400000">
              <a:srgbClr val="0B1E3D">
                <a:alpha val="25000"/>
              </a:srgbClr>
            </a:outerShdw>
          </a:effectLst>
        </p:spPr>
      </p:sp>
      <p:pic>
        <p:nvPicPr>
          <p:cNvPr id="22" name="Image 3" descr="/home/claude/edge_cloud/icon_lock.png">    </p:cNvPr>
          <p:cNvPicPr>
            <a:picLocks noChangeAspect="1"/>
          </p:cNvPicPr>
          <p:nvPr/>
        </p:nvPicPr>
        <p:blipFill>
          <a:blip r:embed="rId4"/>
          <a:stretch>
            <a:fillRect/>
          </a:stretch>
        </p:blipFill>
        <p:spPr>
          <a:xfrm>
            <a:off x="6505956" y="3525012"/>
            <a:ext cx="338328" cy="338328"/>
          </a:xfrm>
          <a:prstGeom prst="rect">
            <a:avLst/>
          </a:prstGeom>
        </p:spPr>
      </p:pic>
      <p:sp>
        <p:nvSpPr>
          <p:cNvPr id="23" name="Text 17"/>
          <p:cNvSpPr/>
          <p:nvPr/>
        </p:nvSpPr>
        <p:spPr>
          <a:xfrm>
            <a:off x="7040880" y="3419856"/>
            <a:ext cx="4480560" cy="45720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What are the data residency rules?</a:t>
            </a:r>
            <a:endParaRPr lang="en-US" sz="1250" dirty="0"/>
          </a:p>
        </p:txBody>
      </p:sp>
      <p:sp>
        <p:nvSpPr>
          <p:cNvPr id="24" name="Text 18"/>
          <p:cNvSpPr/>
          <p:nvPr/>
        </p:nvSpPr>
        <p:spPr>
          <a:xfrm>
            <a:off x="7040880" y="3849624"/>
            <a:ext cx="4480560" cy="91440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Regulated or sensitive data may need to stay local — a case for edge.</a:t>
            </a:r>
            <a:endParaRPr lang="en-US" sz="1000" dirty="0"/>
          </a:p>
        </p:txBody>
      </p:sp>
      <p:sp>
        <p:nvSpPr>
          <p:cNvPr id="25" name="Shape 19"/>
          <p:cNvSpPr/>
          <p:nvPr/>
        </p:nvSpPr>
        <p:spPr>
          <a:xfrm>
            <a:off x="548640" y="5056632"/>
            <a:ext cx="5440680" cy="1572768"/>
          </a:xfrm>
          <a:prstGeom prst="roundRect">
            <a:avLst>
              <a:gd name="adj" fmla="val 4651"/>
            </a:avLst>
          </a:prstGeom>
          <a:solidFill>
            <a:srgbClr val="FFFFFF"/>
          </a:solidFill>
          <a:ln w="12700">
            <a:solidFill>
              <a:srgbClr val="E3E9F2"/>
            </a:solidFill>
            <a:prstDash val="solid"/>
          </a:ln>
          <a:effectLst>
            <a:outerShdw sx="100000" sy="100000" kx="0" ky="0" algn="bl" rotWithShape="0" blurRad="101600" dist="38100" dir="5400000">
              <a:srgbClr val="0B1E3D">
                <a:alpha val="8000"/>
              </a:srgbClr>
            </a:outerShdw>
          </a:effectLst>
        </p:spPr>
      </p:sp>
      <p:sp>
        <p:nvSpPr>
          <p:cNvPr id="26" name="Shape 20"/>
          <p:cNvSpPr/>
          <p:nvPr/>
        </p:nvSpPr>
        <p:spPr>
          <a:xfrm>
            <a:off x="731520" y="5239512"/>
            <a:ext cx="457200" cy="457200"/>
          </a:xfrm>
          <a:prstGeom prst="ellipse">
            <a:avLst/>
          </a:prstGeom>
          <a:solidFill>
            <a:srgbClr val="0B1E3D"/>
          </a:solidFill>
          <a:ln/>
          <a:effectLst>
            <a:outerShdw sx="100000" sy="100000" kx="0" ky="0" algn="bl" rotWithShape="0" blurRad="101600" dist="38100" dir="5400000">
              <a:srgbClr val="0B1E3D">
                <a:alpha val="25000"/>
              </a:srgbClr>
            </a:outerShdw>
          </a:effectLst>
        </p:spPr>
      </p:sp>
      <p:pic>
        <p:nvPicPr>
          <p:cNvPr id="27" name="Image 4" descr="/home/claude/edge_cloud/icon_layers.png">    </p:cNvPr>
          <p:cNvPicPr>
            <a:picLocks noChangeAspect="1"/>
          </p:cNvPicPr>
          <p:nvPr/>
        </p:nvPicPr>
        <p:blipFill>
          <a:blip r:embed="rId5"/>
          <a:stretch>
            <a:fillRect/>
          </a:stretch>
        </p:blipFill>
        <p:spPr>
          <a:xfrm>
            <a:off x="790956" y="5298948"/>
            <a:ext cx="338328" cy="338328"/>
          </a:xfrm>
          <a:prstGeom prst="rect">
            <a:avLst/>
          </a:prstGeom>
        </p:spPr>
      </p:pic>
      <p:sp>
        <p:nvSpPr>
          <p:cNvPr id="28" name="Text 21"/>
          <p:cNvSpPr/>
          <p:nvPr/>
        </p:nvSpPr>
        <p:spPr>
          <a:xfrm>
            <a:off x="1325880" y="5193792"/>
            <a:ext cx="4480560" cy="45720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How much historical data matters?</a:t>
            </a:r>
            <a:endParaRPr lang="en-US" sz="1250" dirty="0"/>
          </a:p>
        </p:txBody>
      </p:sp>
      <p:sp>
        <p:nvSpPr>
          <p:cNvPr id="29" name="Text 22"/>
          <p:cNvSpPr/>
          <p:nvPr/>
        </p:nvSpPr>
        <p:spPr>
          <a:xfrm>
            <a:off x="1325880" y="5623560"/>
            <a:ext cx="4480560" cy="91440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Deep analytics, model training, and multi-year storage are cloud strengths.</a:t>
            </a:r>
            <a:endParaRPr lang="en-US" sz="1000" dirty="0"/>
          </a:p>
        </p:txBody>
      </p:sp>
      <p:sp>
        <p:nvSpPr>
          <p:cNvPr id="30" name="Shape 23"/>
          <p:cNvSpPr/>
          <p:nvPr/>
        </p:nvSpPr>
        <p:spPr>
          <a:xfrm>
            <a:off x="6263640" y="5056632"/>
            <a:ext cx="5440680" cy="1572768"/>
          </a:xfrm>
          <a:prstGeom prst="roundRect">
            <a:avLst>
              <a:gd name="adj" fmla="val 4651"/>
            </a:avLst>
          </a:prstGeom>
          <a:solidFill>
            <a:srgbClr val="FFFFFF"/>
          </a:solidFill>
          <a:ln w="12700">
            <a:solidFill>
              <a:srgbClr val="E3E9F2"/>
            </a:solidFill>
            <a:prstDash val="solid"/>
          </a:ln>
          <a:effectLst>
            <a:outerShdw sx="100000" sy="100000" kx="0" ky="0" algn="bl" rotWithShape="0" blurRad="101600" dist="38100" dir="5400000">
              <a:srgbClr val="0B1E3D">
                <a:alpha val="8000"/>
              </a:srgbClr>
            </a:outerShdw>
          </a:effectLst>
        </p:spPr>
      </p:sp>
      <p:sp>
        <p:nvSpPr>
          <p:cNvPr id="31" name="Shape 24"/>
          <p:cNvSpPr/>
          <p:nvPr/>
        </p:nvSpPr>
        <p:spPr>
          <a:xfrm>
            <a:off x="6446520" y="5239512"/>
            <a:ext cx="457200" cy="457200"/>
          </a:xfrm>
          <a:prstGeom prst="ellipse">
            <a:avLst/>
          </a:prstGeom>
          <a:solidFill>
            <a:srgbClr val="0090A8"/>
          </a:solidFill>
          <a:ln/>
          <a:effectLst>
            <a:outerShdw sx="100000" sy="100000" kx="0" ky="0" algn="bl" rotWithShape="0" blurRad="101600" dist="38100" dir="5400000">
              <a:srgbClr val="0B1E3D">
                <a:alpha val="25000"/>
              </a:srgbClr>
            </a:outerShdw>
          </a:effectLst>
        </p:spPr>
      </p:sp>
      <p:pic>
        <p:nvPicPr>
          <p:cNvPr id="32" name="Image 5" descr="/home/claude/edge_cloud/icon_expand.png">    </p:cNvPr>
          <p:cNvPicPr>
            <a:picLocks noChangeAspect="1"/>
          </p:cNvPicPr>
          <p:nvPr/>
        </p:nvPicPr>
        <p:blipFill>
          <a:blip r:embed="rId6"/>
          <a:stretch>
            <a:fillRect/>
          </a:stretch>
        </p:blipFill>
        <p:spPr>
          <a:xfrm>
            <a:off x="6505956" y="5298948"/>
            <a:ext cx="338328" cy="338328"/>
          </a:xfrm>
          <a:prstGeom prst="rect">
            <a:avLst/>
          </a:prstGeom>
        </p:spPr>
      </p:pic>
      <p:sp>
        <p:nvSpPr>
          <p:cNvPr id="33" name="Text 25"/>
          <p:cNvSpPr/>
          <p:nvPr/>
        </p:nvSpPr>
        <p:spPr>
          <a:xfrm>
            <a:off x="7040880" y="5193792"/>
            <a:ext cx="4480560" cy="45720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How many locations must scale?</a:t>
            </a:r>
            <a:endParaRPr lang="en-US" sz="1250" dirty="0"/>
          </a:p>
        </p:txBody>
      </p:sp>
      <p:sp>
        <p:nvSpPr>
          <p:cNvPr id="34" name="Text 26"/>
          <p:cNvSpPr/>
          <p:nvPr/>
        </p:nvSpPr>
        <p:spPr>
          <a:xfrm>
            <a:off x="7040880" y="5623560"/>
            <a:ext cx="4480560" cy="914400"/>
          </a:xfrm>
          <a:prstGeom prst="rect">
            <a:avLst/>
          </a:prstGeom>
          <a:noFill/>
          <a:ln/>
        </p:spPr>
        <p:txBody>
          <a:bodyPr wrap="square" rtlCol="0" anchor="ctr"/>
          <a:lstStyle/>
          <a:p>
            <a:pPr indent="0" marL="0">
              <a:lnSpc>
                <a:spcPct val="120000"/>
              </a:lnSpc>
              <a:buNone/>
            </a:pPr>
            <a:r>
              <a:rPr lang="en-US" sz="1000" dirty="0">
                <a:solidFill>
                  <a:srgbClr val="5B6B85"/>
                </a:solidFill>
                <a:latin typeface="Calibri" pitchFamily="34" charset="0"/>
                <a:ea typeface="Calibri" pitchFamily="34" charset="-122"/>
                <a:cs typeface="Calibri" pitchFamily="34" charset="-120"/>
              </a:rPr>
              <a:t>Many distributed sites with local needs often justify an edge-plus-cloud hybrid.</a:t>
            </a:r>
            <a:endParaRPr lang="en-US" sz="1000" dirty="0"/>
          </a:p>
        </p:txBody>
      </p:sp>
      <p:sp>
        <p:nvSpPr>
          <p:cNvPr id="35" name="Text 27"/>
          <p:cNvSpPr/>
          <p:nvPr/>
        </p:nvSpPr>
        <p:spPr>
          <a:xfrm>
            <a:off x="457200" y="6537960"/>
            <a:ext cx="5486400" cy="274320"/>
          </a:xfrm>
          <a:prstGeom prst="rect">
            <a:avLst/>
          </a:prstGeom>
          <a:noFill/>
          <a:ln/>
        </p:spPr>
        <p:txBody>
          <a:bodyPr wrap="square" rtlCol="0" anchor="ctr"/>
          <a:lstStyle/>
          <a:p>
            <a:pPr indent="0" marL="0">
              <a:buNone/>
            </a:pPr>
            <a:r>
              <a:rPr lang="en-US" sz="900" i="1" dirty="0">
                <a:solidFill>
                  <a:srgbClr val="5B6B85"/>
                </a:solidFill>
                <a:latin typeface="Calibri" pitchFamily="34" charset="0"/>
                <a:ea typeface="Calibri" pitchFamily="34" charset="-122"/>
                <a:cs typeface="Calibri" pitchFamily="34" charset="-120"/>
              </a:rPr>
              <a:t>Edge vs Cloud Computing</a:t>
            </a:r>
            <a:endParaRPr lang="en-US" sz="900" dirty="0"/>
          </a:p>
        </p:txBody>
      </p:sp>
      <p:sp>
        <p:nvSpPr>
          <p:cNvPr id="36" name="Text 28"/>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E3D"/>
        </a:solidFill>
      </p:bgPr>
    </p:bg>
    <p:spTree>
      <p:nvGrpSpPr>
        <p:cNvPr id="1" name=""/>
        <p:cNvGrpSpPr/>
        <p:nvPr/>
      </p:nvGrpSpPr>
      <p:grpSpPr>
        <a:xfrm>
          <a:off x="0" y="0"/>
          <a:ext cx="0" cy="0"/>
          <a:chOff x="0" y="0"/>
          <a:chExt cx="0" cy="0"/>
        </a:xfrm>
      </p:grpSpPr>
      <p:sp>
        <p:nvSpPr>
          <p:cNvPr id="2" name="Shape 0"/>
          <p:cNvSpPr/>
          <p:nvPr/>
        </p:nvSpPr>
        <p:spPr>
          <a:xfrm>
            <a:off x="9326880" y="-1645920"/>
            <a:ext cx="4572000" cy="4572000"/>
          </a:xfrm>
          <a:prstGeom prst="ellipse">
            <a:avLst/>
          </a:prstGeom>
          <a:solidFill>
            <a:srgbClr val="13294B"/>
          </a:solidFill>
          <a:ln/>
        </p:spPr>
      </p:sp>
      <p:sp>
        <p:nvSpPr>
          <p:cNvPr id="3" name="Shape 1"/>
          <p:cNvSpPr/>
          <p:nvPr/>
        </p:nvSpPr>
        <p:spPr>
          <a:xfrm>
            <a:off x="-1371600" y="4572000"/>
            <a:ext cx="3108960" cy="3108960"/>
          </a:xfrm>
          <a:prstGeom prst="ellipse">
            <a:avLst/>
          </a:prstGeom>
          <a:solidFill>
            <a:srgbClr val="13294B"/>
          </a:solidFill>
          <a:ln/>
        </p:spPr>
      </p:sp>
      <p:sp>
        <p:nvSpPr>
          <p:cNvPr id="4" name="Text 2"/>
          <p:cNvSpPr/>
          <p:nvPr/>
        </p:nvSpPr>
        <p:spPr>
          <a:xfrm>
            <a:off x="548640" y="137160"/>
            <a:ext cx="3657600" cy="320040"/>
          </a:xfrm>
          <a:prstGeom prst="rect">
            <a:avLst/>
          </a:prstGeom>
          <a:noFill/>
          <a:ln/>
        </p:spPr>
        <p:txBody>
          <a:bodyPr wrap="square" rtlCol="0" anchor="ctr"/>
          <a:lstStyle/>
          <a:p>
            <a:pPr indent="0" marL="0">
              <a:buNone/>
            </a:pPr>
            <a:r>
              <a:rPr lang="en-US" sz="1200" b="1" spc="200" kern="0" dirty="0">
                <a:solidFill>
                  <a:srgbClr val="00D4FF"/>
                </a:solidFill>
                <a:latin typeface="Calibri" pitchFamily="34" charset="0"/>
                <a:ea typeface="Calibri" pitchFamily="34" charset="-122"/>
                <a:cs typeface="Calibri" pitchFamily="34" charset="-120"/>
              </a:rPr>
              <a:t>CONCLUSION</a:t>
            </a:r>
            <a:endParaRPr lang="en-US" sz="1200" dirty="0"/>
          </a:p>
        </p:txBody>
      </p:sp>
      <p:sp>
        <p:nvSpPr>
          <p:cNvPr id="5" name="Text 3"/>
          <p:cNvSpPr/>
          <p:nvPr/>
        </p:nvSpPr>
        <p:spPr>
          <a:xfrm>
            <a:off x="548640" y="457200"/>
            <a:ext cx="73152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6" name="Shape 4"/>
          <p:cNvSpPr/>
          <p:nvPr/>
        </p:nvSpPr>
        <p:spPr>
          <a:xfrm>
            <a:off x="548640" y="1508760"/>
            <a:ext cx="548640" cy="548640"/>
          </a:xfrm>
          <a:prstGeom prst="ellipse">
            <a:avLst/>
          </a:prstGeom>
          <a:solidFill>
            <a:srgbClr val="1B3A63"/>
          </a:solidFill>
          <a:ln/>
          <a:effectLst>
            <a:outerShdw sx="100000" sy="100000" kx="0" ky="0" algn="bl" rotWithShape="0" blurRad="101600" dist="38100" dir="5400000">
              <a:srgbClr val="0B1E3D">
                <a:alpha val="25000"/>
              </a:srgbClr>
            </a:outerShdw>
          </a:effectLst>
        </p:spPr>
      </p:sp>
      <p:pic>
        <p:nvPicPr>
          <p:cNvPr id="7" name="Image 0" descr="/home/claude/edge_cloud/icon_check.png">    </p:cNvPr>
          <p:cNvPicPr>
            <a:picLocks noChangeAspect="1"/>
          </p:cNvPicPr>
          <p:nvPr/>
        </p:nvPicPr>
        <p:blipFill>
          <a:blip r:embed="rId1"/>
          <a:stretch>
            <a:fillRect/>
          </a:stretch>
        </p:blipFill>
        <p:spPr>
          <a:xfrm>
            <a:off x="619963" y="1580083"/>
            <a:ext cx="405994" cy="405994"/>
          </a:xfrm>
          <a:prstGeom prst="rect">
            <a:avLst/>
          </a:prstGeom>
        </p:spPr>
      </p:pic>
      <p:sp>
        <p:nvSpPr>
          <p:cNvPr id="8" name="Text 5"/>
          <p:cNvSpPr/>
          <p:nvPr/>
        </p:nvSpPr>
        <p:spPr>
          <a:xfrm>
            <a:off x="1280160" y="1490472"/>
            <a:ext cx="96012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Not a competition — a continuum</a:t>
            </a:r>
            <a:endParaRPr lang="en-US" sz="1500" dirty="0"/>
          </a:p>
        </p:txBody>
      </p:sp>
      <p:sp>
        <p:nvSpPr>
          <p:cNvPr id="9" name="Text 6"/>
          <p:cNvSpPr/>
          <p:nvPr/>
        </p:nvSpPr>
        <p:spPr>
          <a:xfrm>
            <a:off x="1280160" y="1856232"/>
            <a:ext cx="9875520" cy="457200"/>
          </a:xfrm>
          <a:prstGeom prst="rect">
            <a:avLst/>
          </a:prstGeom>
          <a:noFill/>
          <a:ln/>
        </p:spPr>
        <p:txBody>
          <a:bodyPr wrap="square" rtlCol="0" anchor="ctr"/>
          <a:lstStyle/>
          <a:p>
            <a:pPr indent="0" marL="0">
              <a:buNone/>
            </a:pPr>
            <a:r>
              <a:rPr lang="en-US" sz="1150" dirty="0">
                <a:solidFill>
                  <a:srgbClr val="C9D6EC"/>
                </a:solidFill>
                <a:latin typeface="Calibri" pitchFamily="34" charset="0"/>
                <a:ea typeface="Calibri" pitchFamily="34" charset="-122"/>
                <a:cs typeface="Calibri" pitchFamily="34" charset="-120"/>
              </a:rPr>
              <a:t>Edge and cloud solve different problems; the winning architecture usually uses both.</a:t>
            </a:r>
            <a:endParaRPr lang="en-US" sz="1150" dirty="0"/>
          </a:p>
        </p:txBody>
      </p:sp>
      <p:sp>
        <p:nvSpPr>
          <p:cNvPr id="10" name="Shape 7"/>
          <p:cNvSpPr/>
          <p:nvPr/>
        </p:nvSpPr>
        <p:spPr>
          <a:xfrm>
            <a:off x="548640" y="2560320"/>
            <a:ext cx="548640" cy="548640"/>
          </a:xfrm>
          <a:prstGeom prst="ellipse">
            <a:avLst/>
          </a:prstGeom>
          <a:solidFill>
            <a:srgbClr val="1B3A63"/>
          </a:solidFill>
          <a:ln/>
          <a:effectLst>
            <a:outerShdw sx="100000" sy="100000" kx="0" ky="0" algn="bl" rotWithShape="0" blurRad="101600" dist="38100" dir="5400000">
              <a:srgbClr val="0B1E3D">
                <a:alpha val="25000"/>
              </a:srgbClr>
            </a:outerShdw>
          </a:effectLst>
        </p:spPr>
      </p:sp>
      <p:pic>
        <p:nvPicPr>
          <p:cNvPr id="11" name="Image 1" descr="/home/claude/edge_cloud/icon_bolt.png">    </p:cNvPr>
          <p:cNvPicPr>
            <a:picLocks noChangeAspect="1"/>
          </p:cNvPicPr>
          <p:nvPr/>
        </p:nvPicPr>
        <p:blipFill>
          <a:blip r:embed="rId2"/>
          <a:stretch>
            <a:fillRect/>
          </a:stretch>
        </p:blipFill>
        <p:spPr>
          <a:xfrm>
            <a:off x="619963" y="2631643"/>
            <a:ext cx="405994" cy="405994"/>
          </a:xfrm>
          <a:prstGeom prst="rect">
            <a:avLst/>
          </a:prstGeom>
        </p:spPr>
      </p:pic>
      <p:sp>
        <p:nvSpPr>
          <p:cNvPr id="12" name="Text 8"/>
          <p:cNvSpPr/>
          <p:nvPr/>
        </p:nvSpPr>
        <p:spPr>
          <a:xfrm>
            <a:off x="1280160" y="2542032"/>
            <a:ext cx="96012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Let latency and connectivity lead</a:t>
            </a:r>
            <a:endParaRPr lang="en-US" sz="1500" dirty="0"/>
          </a:p>
        </p:txBody>
      </p:sp>
      <p:sp>
        <p:nvSpPr>
          <p:cNvPr id="13" name="Text 9"/>
          <p:cNvSpPr/>
          <p:nvPr/>
        </p:nvSpPr>
        <p:spPr>
          <a:xfrm>
            <a:off x="1280160" y="2907792"/>
            <a:ext cx="9875520" cy="457200"/>
          </a:xfrm>
          <a:prstGeom prst="rect">
            <a:avLst/>
          </a:prstGeom>
          <a:noFill/>
          <a:ln/>
        </p:spPr>
        <p:txBody>
          <a:bodyPr wrap="square" rtlCol="0" anchor="ctr"/>
          <a:lstStyle/>
          <a:p>
            <a:pPr indent="0" marL="0">
              <a:buNone/>
            </a:pPr>
            <a:r>
              <a:rPr lang="en-US" sz="1150" dirty="0">
                <a:solidFill>
                  <a:srgbClr val="C9D6EC"/>
                </a:solidFill>
                <a:latin typeface="Calibri" pitchFamily="34" charset="0"/>
                <a:ea typeface="Calibri" pitchFamily="34" charset="-122"/>
                <a:cs typeface="Calibri" pitchFamily="34" charset="-120"/>
              </a:rPr>
              <a:t>If a workload needs sub-50ms response or must survive offline, push it to the edge.</a:t>
            </a:r>
            <a:endParaRPr lang="en-US" sz="1150" dirty="0"/>
          </a:p>
        </p:txBody>
      </p:sp>
      <p:sp>
        <p:nvSpPr>
          <p:cNvPr id="14" name="Shape 10"/>
          <p:cNvSpPr/>
          <p:nvPr/>
        </p:nvSpPr>
        <p:spPr>
          <a:xfrm>
            <a:off x="548640" y="3611880"/>
            <a:ext cx="548640" cy="548640"/>
          </a:xfrm>
          <a:prstGeom prst="ellipse">
            <a:avLst/>
          </a:prstGeom>
          <a:solidFill>
            <a:srgbClr val="1B3A63"/>
          </a:solidFill>
          <a:ln/>
          <a:effectLst>
            <a:outerShdw sx="100000" sy="100000" kx="0" ky="0" algn="bl" rotWithShape="0" blurRad="101600" dist="38100" dir="5400000">
              <a:srgbClr val="0B1E3D">
                <a:alpha val="25000"/>
              </a:srgbClr>
            </a:outerShdw>
          </a:effectLst>
        </p:spPr>
      </p:sp>
      <p:pic>
        <p:nvPicPr>
          <p:cNvPr id="15" name="Image 2" descr="/home/claude/edge_cloud/icon_cloud.png">    </p:cNvPr>
          <p:cNvPicPr>
            <a:picLocks noChangeAspect="1"/>
          </p:cNvPicPr>
          <p:nvPr/>
        </p:nvPicPr>
        <p:blipFill>
          <a:blip r:embed="rId3"/>
          <a:stretch>
            <a:fillRect/>
          </a:stretch>
        </p:blipFill>
        <p:spPr>
          <a:xfrm>
            <a:off x="619963" y="3683203"/>
            <a:ext cx="405994" cy="405994"/>
          </a:xfrm>
          <a:prstGeom prst="rect">
            <a:avLst/>
          </a:prstGeom>
        </p:spPr>
      </p:pic>
      <p:sp>
        <p:nvSpPr>
          <p:cNvPr id="16" name="Text 11"/>
          <p:cNvSpPr/>
          <p:nvPr/>
        </p:nvSpPr>
        <p:spPr>
          <a:xfrm>
            <a:off x="1280160" y="3593592"/>
            <a:ext cx="96012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Let scale and depth lead the rest</a:t>
            </a:r>
            <a:endParaRPr lang="en-US" sz="1500" dirty="0"/>
          </a:p>
        </p:txBody>
      </p:sp>
      <p:sp>
        <p:nvSpPr>
          <p:cNvPr id="17" name="Text 12"/>
          <p:cNvSpPr/>
          <p:nvPr/>
        </p:nvSpPr>
        <p:spPr>
          <a:xfrm>
            <a:off x="1280160" y="3959352"/>
            <a:ext cx="9875520" cy="457200"/>
          </a:xfrm>
          <a:prstGeom prst="rect">
            <a:avLst/>
          </a:prstGeom>
          <a:noFill/>
          <a:ln/>
        </p:spPr>
        <p:txBody>
          <a:bodyPr wrap="square" rtlCol="0" anchor="ctr"/>
          <a:lstStyle/>
          <a:p>
            <a:pPr indent="0" marL="0">
              <a:buNone/>
            </a:pPr>
            <a:r>
              <a:rPr lang="en-US" sz="1150" dirty="0">
                <a:solidFill>
                  <a:srgbClr val="C9D6EC"/>
                </a:solidFill>
                <a:latin typeface="Calibri" pitchFamily="34" charset="0"/>
                <a:ea typeface="Calibri" pitchFamily="34" charset="-122"/>
                <a:cs typeface="Calibri" pitchFamily="34" charset="-120"/>
              </a:rPr>
              <a:t>Training, storage, and cross-site analytics still belong in the cloud.</a:t>
            </a:r>
            <a:endParaRPr lang="en-US" sz="1150" dirty="0"/>
          </a:p>
        </p:txBody>
      </p:sp>
      <p:sp>
        <p:nvSpPr>
          <p:cNvPr id="18" name="Shape 13"/>
          <p:cNvSpPr/>
          <p:nvPr/>
        </p:nvSpPr>
        <p:spPr>
          <a:xfrm>
            <a:off x="548640" y="4663440"/>
            <a:ext cx="548640" cy="548640"/>
          </a:xfrm>
          <a:prstGeom prst="ellipse">
            <a:avLst/>
          </a:prstGeom>
          <a:solidFill>
            <a:srgbClr val="1B3A63"/>
          </a:solidFill>
          <a:ln/>
          <a:effectLst>
            <a:outerShdw sx="100000" sy="100000" kx="0" ky="0" algn="bl" rotWithShape="0" blurRad="101600" dist="38100" dir="5400000">
              <a:srgbClr val="0B1E3D">
                <a:alpha val="25000"/>
              </a:srgbClr>
            </a:outerShdw>
          </a:effectLst>
        </p:spPr>
      </p:sp>
      <p:pic>
        <p:nvPicPr>
          <p:cNvPr id="19" name="Image 3" descr="/home/claude/edge_cloud/icon_network.png">    </p:cNvPr>
          <p:cNvPicPr>
            <a:picLocks noChangeAspect="1"/>
          </p:cNvPicPr>
          <p:nvPr/>
        </p:nvPicPr>
        <p:blipFill>
          <a:blip r:embed="rId4"/>
          <a:stretch>
            <a:fillRect/>
          </a:stretch>
        </p:blipFill>
        <p:spPr>
          <a:xfrm>
            <a:off x="619963" y="4734763"/>
            <a:ext cx="405994" cy="405994"/>
          </a:xfrm>
          <a:prstGeom prst="rect">
            <a:avLst/>
          </a:prstGeom>
        </p:spPr>
      </p:pic>
      <p:sp>
        <p:nvSpPr>
          <p:cNvPr id="20" name="Text 14"/>
          <p:cNvSpPr/>
          <p:nvPr/>
        </p:nvSpPr>
        <p:spPr>
          <a:xfrm>
            <a:off x="1280160" y="4645152"/>
            <a:ext cx="96012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Design for the hybrid model</a:t>
            </a:r>
            <a:endParaRPr lang="en-US" sz="1500" dirty="0"/>
          </a:p>
        </p:txBody>
      </p:sp>
      <p:sp>
        <p:nvSpPr>
          <p:cNvPr id="21" name="Text 15"/>
          <p:cNvSpPr/>
          <p:nvPr/>
        </p:nvSpPr>
        <p:spPr>
          <a:xfrm>
            <a:off x="1280160" y="5010912"/>
            <a:ext cx="9875520" cy="457200"/>
          </a:xfrm>
          <a:prstGeom prst="rect">
            <a:avLst/>
          </a:prstGeom>
          <a:noFill/>
          <a:ln/>
        </p:spPr>
        <p:txBody>
          <a:bodyPr wrap="square" rtlCol="0" anchor="ctr"/>
          <a:lstStyle/>
          <a:p>
            <a:pPr indent="0" marL="0">
              <a:buNone/>
            </a:pPr>
            <a:r>
              <a:rPr lang="en-US" sz="1150" dirty="0">
                <a:solidFill>
                  <a:srgbClr val="C9D6EC"/>
                </a:solidFill>
                <a:latin typeface="Calibri" pitchFamily="34" charset="0"/>
                <a:ea typeface="Calibri" pitchFamily="34" charset="-122"/>
                <a:cs typeface="Calibri" pitchFamily="34" charset="-120"/>
              </a:rPr>
              <a:t>Build systems that route each task to whichever layer serves it best, and keep them talking.</a:t>
            </a:r>
            <a:endParaRPr lang="en-US" sz="1150" dirty="0"/>
          </a:p>
        </p:txBody>
      </p:sp>
      <p:sp>
        <p:nvSpPr>
          <p:cNvPr id="22" name="Text 16"/>
          <p:cNvSpPr/>
          <p:nvPr/>
        </p:nvSpPr>
        <p:spPr>
          <a:xfrm>
            <a:off x="548640" y="5943600"/>
            <a:ext cx="5486400" cy="457200"/>
          </a:xfrm>
          <a:prstGeom prst="rect">
            <a:avLst/>
          </a:prstGeom>
          <a:noFill/>
          <a:ln/>
        </p:spPr>
        <p:txBody>
          <a:bodyPr wrap="square" rtlCol="0" anchor="ctr"/>
          <a:lstStyle/>
          <a:p>
            <a:pPr indent="0" marL="0">
              <a:buNone/>
            </a:pPr>
            <a:r>
              <a:rPr lang="en-US" sz="1800" i="1" dirty="0">
                <a:solidFill>
                  <a:srgbClr val="FF8C42"/>
                </a:solidFill>
                <a:latin typeface="Cambria" pitchFamily="34" charset="0"/>
                <a:ea typeface="Cambria" pitchFamily="34" charset="-122"/>
                <a:cs typeface="Cambria" pitchFamily="34" charset="-120"/>
              </a:rPr>
              <a:t>Thank you</a:t>
            </a:r>
            <a:endParaRPr lang="en-US" sz="1800" dirty="0"/>
          </a:p>
        </p:txBody>
      </p:sp>
      <p:sp>
        <p:nvSpPr>
          <p:cNvPr id="23" name="Text 17"/>
          <p:cNvSpPr/>
          <p:nvPr/>
        </p:nvSpPr>
        <p:spPr>
          <a:xfrm>
            <a:off x="457200" y="6537960"/>
            <a:ext cx="5486400" cy="274320"/>
          </a:xfrm>
          <a:prstGeom prst="rect">
            <a:avLst/>
          </a:prstGeom>
          <a:noFill/>
          <a:ln/>
        </p:spPr>
        <p:txBody>
          <a:bodyPr wrap="square" rtlCol="0" anchor="ctr"/>
          <a:lstStyle/>
          <a:p>
            <a:pPr indent="0" marL="0">
              <a:buNone/>
            </a:pPr>
            <a:r>
              <a:rPr lang="en-US" sz="900" i="1" dirty="0">
                <a:solidFill>
                  <a:srgbClr val="8FA3C4"/>
                </a:solidFill>
                <a:latin typeface="Calibri" pitchFamily="34" charset="0"/>
                <a:ea typeface="Calibri" pitchFamily="34" charset="-122"/>
                <a:cs typeface="Calibri" pitchFamily="34" charset="-120"/>
              </a:rPr>
              <a:t>Edge vs Cloud Computing</a:t>
            </a:r>
            <a:endParaRPr lang="en-US" sz="900" dirty="0"/>
          </a:p>
        </p:txBody>
      </p:sp>
      <p:sp>
        <p:nvSpPr>
          <p:cNvPr id="24" name="Text 18"/>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8FA3C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2026-07-16T07:07:24Z</dcterms:created>
  <dcterms:modified xsi:type="dcterms:W3CDTF">2026-07-16T07:07:24Z</dcterms:modified>
</cp:coreProperties>
</file>